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1df2b32faf44bf" /><Relationship Type="http://schemas.openxmlformats.org/officeDocument/2006/relationships/extended-properties" Target="/docProps/app.xml" Id="R2cb16077a4b84384" /><Relationship Type="http://schemas.openxmlformats.org/officeDocument/2006/relationships/officeDocument" Target="/ppt/presentation.xml" Id="R52140c8503854301" /></Relationships>
</file>

<file path=ppt/presentation.xml><?xml version="1.0" encoding="utf-8"?>
<p:presentation xmlns:p="http://schemas.openxmlformats.org/presentationml/2006/main">
  <p:sldMasterIdLst>
    <p:sldMasterId xmlns:r="http://schemas.openxmlformats.org/officeDocument/2006/relationships" id="2147483648" r:id="R68acd516197342e8"/>
  </p:sldMasterIdLst>
  <p:notesMasterIdLst>
    <p:notesMasterId xmlns:r="http://schemas.openxmlformats.org/officeDocument/2006/relationships" r:id="R9b019d75978c4876"/>
  </p:notesMasterIdLst>
  <p:sldIdLst>
    <p:sldId xmlns:r="http://schemas.openxmlformats.org/officeDocument/2006/relationships" id="256" r:id="R4b812b630ed143e1"/>
    <p:sldId xmlns:r="http://schemas.openxmlformats.org/officeDocument/2006/relationships" id="257" r:id="R608445045ab14860"/>
    <p:sldId xmlns:r="http://schemas.openxmlformats.org/officeDocument/2006/relationships" id="258" r:id="R8bd97771a31d4448"/>
    <p:sldId xmlns:r="http://schemas.openxmlformats.org/officeDocument/2006/relationships" id="259" r:id="Rd98dec877f364d4d"/>
    <p:sldId xmlns:r="http://schemas.openxmlformats.org/officeDocument/2006/relationships" id="260" r:id="Ra1cada9f40cb49c6"/>
    <p:sldId xmlns:r="http://schemas.openxmlformats.org/officeDocument/2006/relationships" id="261" r:id="R287480634fa0413c"/>
    <p:sldId xmlns:r="http://schemas.openxmlformats.org/officeDocument/2006/relationships" id="262" r:id="Rbb4bc04474824dd5"/>
    <p:sldId xmlns:r="http://schemas.openxmlformats.org/officeDocument/2006/relationships" id="263" r:id="Rcfb26436228a45fa"/>
    <p:sldId xmlns:r="http://schemas.openxmlformats.org/officeDocument/2006/relationships" id="264" r:id="R4f97d7f209734de8"/>
    <p:sldId xmlns:r="http://schemas.openxmlformats.org/officeDocument/2006/relationships" id="265" r:id="R07ee0f7cf2454d74"/>
    <p:sldId xmlns:r="http://schemas.openxmlformats.org/officeDocument/2006/relationships" id="266" r:id="R890780b257214310"/>
    <p:sldId xmlns:r="http://schemas.openxmlformats.org/officeDocument/2006/relationships" id="267" r:id="R81822e7286fb40ba"/>
    <p:sldId xmlns:r="http://schemas.openxmlformats.org/officeDocument/2006/relationships" id="268" r:id="R178a03f6ca6d40fe"/>
    <p:sldId xmlns:r="http://schemas.openxmlformats.org/officeDocument/2006/relationships" id="269" r:id="R833d02b098754b8e"/>
    <p:sldId xmlns:r="http://schemas.openxmlformats.org/officeDocument/2006/relationships" id="270" r:id="R635b1540bd4e4960"/>
    <p:sldId xmlns:r="http://schemas.openxmlformats.org/officeDocument/2006/relationships" id="271" r:id="R266cf493dd644292"/>
    <p:sldId xmlns:r="http://schemas.openxmlformats.org/officeDocument/2006/relationships" id="272" r:id="Re3ee2707d17c4f98"/>
    <p:sldId xmlns:r="http://schemas.openxmlformats.org/officeDocument/2006/relationships" id="273" r:id="Rd0e2f2c296fd4e14"/>
    <p:sldId xmlns:r="http://schemas.openxmlformats.org/officeDocument/2006/relationships" id="274" r:id="R178a6437a00d4613"/>
    <p:sldId xmlns:r="http://schemas.openxmlformats.org/officeDocument/2006/relationships" id="275" r:id="R034e986d2e0c4fba"/>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ec0968c85d349fd" /><Relationship Type="http://schemas.openxmlformats.org/officeDocument/2006/relationships/slideMaster" Target="/ppt/slideMasters/slideMaster1.xml" Id="R68acd516197342e8" /><Relationship Type="http://schemas.openxmlformats.org/officeDocument/2006/relationships/notesMaster" Target="/ppt/notesMasters/notesMaster1.xml" Id="R9b019d75978c4876" /><Relationship Type="http://schemas.openxmlformats.org/officeDocument/2006/relationships/presProps" Target="/ppt/presProps.xml" Id="R44f6ebd701124a9b" /><Relationship Type="http://schemas.openxmlformats.org/officeDocument/2006/relationships/tableStyles" Target="/ppt/tableStyles.xml" Id="Rf9515a0d2b7e43ff" /><Relationship Type="http://schemas.openxmlformats.org/officeDocument/2006/relationships/slide" Target="/ppt/slides/slide1.xml" Id="R4b812b630ed143e1" /><Relationship Type="http://schemas.openxmlformats.org/officeDocument/2006/relationships/slide" Target="/ppt/slides/slide2.xml" Id="R608445045ab14860" /><Relationship Type="http://schemas.openxmlformats.org/officeDocument/2006/relationships/slide" Target="/ppt/slides/slide3.xml" Id="R8bd97771a31d4448" /><Relationship Type="http://schemas.openxmlformats.org/officeDocument/2006/relationships/slide" Target="/ppt/slides/slide4.xml" Id="Rd98dec877f364d4d" /><Relationship Type="http://schemas.openxmlformats.org/officeDocument/2006/relationships/slide" Target="/ppt/slides/slide5.xml" Id="Ra1cada9f40cb49c6" /><Relationship Type="http://schemas.openxmlformats.org/officeDocument/2006/relationships/slide" Target="/ppt/slides/slide6.xml" Id="R287480634fa0413c" /><Relationship Type="http://schemas.openxmlformats.org/officeDocument/2006/relationships/slide" Target="/ppt/slides/slide7.xml" Id="Rbb4bc04474824dd5" /><Relationship Type="http://schemas.openxmlformats.org/officeDocument/2006/relationships/slide" Target="/ppt/slides/slide8.xml" Id="Rcfb26436228a45fa" /><Relationship Type="http://schemas.openxmlformats.org/officeDocument/2006/relationships/slide" Target="/ppt/slides/slide9.xml" Id="R4f97d7f209734de8" /><Relationship Type="http://schemas.openxmlformats.org/officeDocument/2006/relationships/slide" Target="/ppt/slides/slide10.xml" Id="R07ee0f7cf2454d74" /><Relationship Type="http://schemas.openxmlformats.org/officeDocument/2006/relationships/slide" Target="/ppt/slides/slide11.xml" Id="R890780b257214310" /><Relationship Type="http://schemas.openxmlformats.org/officeDocument/2006/relationships/slide" Target="/ppt/slides/slide12.xml" Id="R81822e7286fb40ba" /><Relationship Type="http://schemas.openxmlformats.org/officeDocument/2006/relationships/slide" Target="/ppt/slides/slide13.xml" Id="R178a03f6ca6d40fe" /><Relationship Type="http://schemas.openxmlformats.org/officeDocument/2006/relationships/slide" Target="/ppt/slides/slide14.xml" Id="R833d02b098754b8e" /><Relationship Type="http://schemas.openxmlformats.org/officeDocument/2006/relationships/slide" Target="/ppt/slides/slide15.xml" Id="R635b1540bd4e4960" /><Relationship Type="http://schemas.openxmlformats.org/officeDocument/2006/relationships/slide" Target="/ppt/slides/slide16.xml" Id="R266cf493dd644292" /><Relationship Type="http://schemas.openxmlformats.org/officeDocument/2006/relationships/slide" Target="/ppt/slides/slide17.xml" Id="Re3ee2707d17c4f98" /><Relationship Type="http://schemas.openxmlformats.org/officeDocument/2006/relationships/slide" Target="/ppt/slides/slide18.xml" Id="Rd0e2f2c296fd4e14" /><Relationship Type="http://schemas.openxmlformats.org/officeDocument/2006/relationships/slide" Target="/ppt/slides/slide19.xml" Id="R178a6437a00d4613" /><Relationship Type="http://schemas.openxmlformats.org/officeDocument/2006/relationships/slide" Target="/ppt/slides/slide20.xml" Id="R034e986d2e0c4f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e38d3a8844d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497df61b6c4f76" /><Relationship Type="http://schemas.openxmlformats.org/officeDocument/2006/relationships/notesMaster" Target="/ppt/notesMasters/notesMaster1.xml" Id="Rf666902fa06443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69bb30cb864c40" /><Relationship Type="http://schemas.openxmlformats.org/officeDocument/2006/relationships/notesMaster" Target="/ppt/notesMasters/notesMaster1.xml" Id="Rfd80c24a324145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569f88ab354cdc" /><Relationship Type="http://schemas.openxmlformats.org/officeDocument/2006/relationships/notesMaster" Target="/ppt/notesMasters/notesMaster1.xml" Id="R2a294a8f4faa44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c9cedd23df4ab3" /><Relationship Type="http://schemas.openxmlformats.org/officeDocument/2006/relationships/notesMaster" Target="/ppt/notesMasters/notesMaster1.xml" Id="R66368eb549b34b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35e3a0e4cb4c22" /><Relationship Type="http://schemas.openxmlformats.org/officeDocument/2006/relationships/notesMaster" Target="/ppt/notesMasters/notesMaster1.xml" Id="Rd747728427134a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b300c9d199e4f35" /><Relationship Type="http://schemas.openxmlformats.org/officeDocument/2006/relationships/notesMaster" Target="/ppt/notesMasters/notesMaster1.xml" Id="Rba4afd43d15840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48e27024914bf8" /><Relationship Type="http://schemas.openxmlformats.org/officeDocument/2006/relationships/notesMaster" Target="/ppt/notesMasters/notesMaster1.xml" Id="Rdf8a48b09aba48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29279165854ac5" /><Relationship Type="http://schemas.openxmlformats.org/officeDocument/2006/relationships/notesMaster" Target="/ppt/notesMasters/notesMaster1.xml" Id="R29c13360075d4b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c625ac0c1b41c1" /><Relationship Type="http://schemas.openxmlformats.org/officeDocument/2006/relationships/notesMaster" Target="/ppt/notesMasters/notesMaster1.xml" Id="Rd37281171a704d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94312a9236451d" /><Relationship Type="http://schemas.openxmlformats.org/officeDocument/2006/relationships/notesMaster" Target="/ppt/notesMasters/notesMaster1.xml" Id="Rd2653077332049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073bec7bdc47dc" /><Relationship Type="http://schemas.openxmlformats.org/officeDocument/2006/relationships/notesMaster" Target="/ppt/notesMasters/notesMaster1.xml" Id="R51561991978944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d684d0ae354d4f" /><Relationship Type="http://schemas.openxmlformats.org/officeDocument/2006/relationships/notesMaster" Target="/ppt/notesMasters/notesMaster1.xml" Id="R2d3fe6cdcce04f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861ddce3d247fa" /><Relationship Type="http://schemas.openxmlformats.org/officeDocument/2006/relationships/notesMaster" Target="/ppt/notesMasters/notesMaster1.xml" Id="R3ba322c1592340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ef1558c9065460f" /><Relationship Type="http://schemas.openxmlformats.org/officeDocument/2006/relationships/notesMaster" Target="/ppt/notesMasters/notesMaster1.xml" Id="R0f8e088cef4f46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d5bab5dd344c78" /><Relationship Type="http://schemas.openxmlformats.org/officeDocument/2006/relationships/notesMaster" Target="/ppt/notesMasters/notesMaster1.xml" Id="Rbff5878a225a447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8560ca505714161" /><Relationship Type="http://schemas.openxmlformats.org/officeDocument/2006/relationships/notesMaster" Target="/ppt/notesMasters/notesMaster1.xml" Id="R469222ce357f47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ca94c48db44f70" /><Relationship Type="http://schemas.openxmlformats.org/officeDocument/2006/relationships/notesMaster" Target="/ppt/notesMasters/notesMaster1.xml" Id="R283941aa906f43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ba1c8ece3b4a2e" /><Relationship Type="http://schemas.openxmlformats.org/officeDocument/2006/relationships/notesMaster" Target="/ppt/notesMasters/notesMaster1.xml" Id="R0a29f59f0fd644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fa0755dea874930" /><Relationship Type="http://schemas.openxmlformats.org/officeDocument/2006/relationships/notesMaster" Target="/ppt/notesMasters/notesMaster1.xml" Id="Rd67fc8553b614f7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d8fd14f5d94083" /><Relationship Type="http://schemas.openxmlformats.org/officeDocument/2006/relationships/notesMaster" Target="/ppt/notesMasters/notesMaster1.xml" Id="R465b5e12c98745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structure drawn from the local project README.md. Student names, PIDs, and guide details were not supplied and remain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Template structure preserved. Objectives appear with the introduction on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Project Overview, Key Features, and Recommendation Engine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Project Overview and Project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Problem Statement and DSA Implementation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Problem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synthesized from the project problem statement and feature set in README.md. It describes system categories rather than a benchmark of named products.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Problem Statement, Recommendation Engine, and API fallback descriptions.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Key Features, Database Architecture, and DSA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System Architecture. Diagram is editable in the PowerPoint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services/recommendation_service.py and algorithms/recommendation.py. Diagram and formula are editable in the PowerPoint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Technology Stack and Installation &amp; Setup. Requirements are stated as practical minimums for the supplied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test_system.py, especially test_05_final_acceptance_test_requirement_37. The slide reports assertions specified in the local automated test suite.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Project Overview, Recommendation Engine, and Limitations &amp; Future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Limitations &amp; Future Scope. Multi-currency support and cloud deployment are proposed extensions consistent with the documented INR-only current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sequence based on the application routes in app.py and the acceptance scenario in test_system.py.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listed for presentation use. The project functionality is documented locally in README.md and the corresponding Python modules.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Generic acknowledgement used because individual names were not supplied. It is editable in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retained from the supplied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slide retained from the supplied 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ff8d78649149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a8e5e7ad31453b" /><Relationship Type="http://schemas.openxmlformats.org/officeDocument/2006/relationships/slideLayout" Target="/ppt/slideLayouts/slideLayout1.xml" Id="R47e7b8d1e42942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e7b8d1e42942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e52d90e4cb4a00" /><Relationship Type="http://schemas.openxmlformats.org/officeDocument/2006/relationships/image" Target="/ppt/media/image.png" Id="R4e173991a97f486a" /><Relationship Type="http://schemas.openxmlformats.org/officeDocument/2006/relationships/notesSlide" Target="/ppt/notesSlides/notesSlide1.xml" Id="Rfa2ca40826f545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590dc990f540b5" /><Relationship Type="http://schemas.openxmlformats.org/officeDocument/2006/relationships/image" Target="/ppt/media/image2.png" Id="Rd0f3adc3eb5643de" /><Relationship Type="http://schemas.openxmlformats.org/officeDocument/2006/relationships/notesSlide" Target="/ppt/notesSlides/notesSlide2.xml" Id="R544b5221062640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723c8686d8f47fe" /><Relationship Type="http://schemas.openxmlformats.org/officeDocument/2006/relationships/image" Target="/ppt/media/image3.png" Id="R83779e1d17684daa" /><Relationship Type="http://schemas.openxmlformats.org/officeDocument/2006/relationships/notesSlide" Target="/ppt/notesSlides/notesSlide3.xml" Id="R0ca264b301e348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ae859f386d43a1" /><Relationship Type="http://schemas.openxmlformats.org/officeDocument/2006/relationships/image" Target="/ppt/media/image4.png" Id="Rd5b4eff26f264446" /><Relationship Type="http://schemas.openxmlformats.org/officeDocument/2006/relationships/notesSlide" Target="/ppt/notesSlides/notesSlide4.xml" Id="R811a44a2449941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5ce8fafc7840c5" /><Relationship Type="http://schemas.openxmlformats.org/officeDocument/2006/relationships/image" Target="/ppt/media/image5.png" Id="Rd5114ec32735434b" /><Relationship Type="http://schemas.openxmlformats.org/officeDocument/2006/relationships/notesSlide" Target="/ppt/notesSlides/notesSlide5.xml" Id="R450c4f891d8d44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7435d9dc924407" /><Relationship Type="http://schemas.openxmlformats.org/officeDocument/2006/relationships/image" Target="/ppt/media/image6.png" Id="Rdc564a37c901495d" /><Relationship Type="http://schemas.openxmlformats.org/officeDocument/2006/relationships/notesSlide" Target="/ppt/notesSlides/notesSlide6.xml" Id="Ref05f5e9a2e245a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2d1c79c5a148b0" /><Relationship Type="http://schemas.openxmlformats.org/officeDocument/2006/relationships/image" Target="/ppt/media/image7.png" Id="Rf9839d4d0b0f4adb" /><Relationship Type="http://schemas.openxmlformats.org/officeDocument/2006/relationships/notesSlide" Target="/ppt/notesSlides/notesSlide7.xml" Id="R2eeaace3cdd64d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d7f1ae17e0b49fd" /><Relationship Type="http://schemas.openxmlformats.org/officeDocument/2006/relationships/image" Target="/ppt/media/image8.png" Id="Rb0896ce03d5c4c5f" /><Relationship Type="http://schemas.openxmlformats.org/officeDocument/2006/relationships/notesSlide" Target="/ppt/notesSlides/notesSlide8.xml" Id="R0ba98105c57a42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56954fd14c4700" /><Relationship Type="http://schemas.openxmlformats.org/officeDocument/2006/relationships/image" Target="/ppt/media/image9.png" Id="R3293692951bd4343" /><Relationship Type="http://schemas.openxmlformats.org/officeDocument/2006/relationships/notesSlide" Target="/ppt/notesSlides/notesSlide9.xml" Id="R0f33477f71b540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ed8f6f2f1f44b1" /><Relationship Type="http://schemas.openxmlformats.org/officeDocument/2006/relationships/image" Target="/ppt/media/image10.png" Id="R18723bb151c34030" /><Relationship Type="http://schemas.openxmlformats.org/officeDocument/2006/relationships/notesSlide" Target="/ppt/notesSlides/notesSlide10.xml" Id="Re6bf0ece83df4c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ae9066ebdb43c3" /><Relationship Type="http://schemas.openxmlformats.org/officeDocument/2006/relationships/image" Target="/ppt/media/image11.png" Id="Rd560717fff324b06" /><Relationship Type="http://schemas.openxmlformats.org/officeDocument/2006/relationships/notesSlide" Target="/ppt/notesSlides/notesSlide11.xml" Id="R0060fc8ee1d147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5c9c8594e154550" /><Relationship Type="http://schemas.openxmlformats.org/officeDocument/2006/relationships/image" Target="/ppt/media/image12.png" Id="Rea53c7481b1a4c65" /><Relationship Type="http://schemas.openxmlformats.org/officeDocument/2006/relationships/notesSlide" Target="/ppt/notesSlides/notesSlide12.xml" Id="R770e140b988149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46ae71fdca4404" /><Relationship Type="http://schemas.openxmlformats.org/officeDocument/2006/relationships/image" Target="/ppt/media/image13.png" Id="Rc79a9a4ea0644951" /><Relationship Type="http://schemas.openxmlformats.org/officeDocument/2006/relationships/notesSlide" Target="/ppt/notesSlides/notesSlide13.xml" Id="Rbece5702995e40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1d7f6c5e6834b29" /><Relationship Type="http://schemas.openxmlformats.org/officeDocument/2006/relationships/image" Target="/ppt/media/image14.png" Id="R5a7155ad41634818" /><Relationship Type="http://schemas.openxmlformats.org/officeDocument/2006/relationships/notesSlide" Target="/ppt/notesSlides/notesSlide14.xml" Id="R0627ef2b53a94ce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41658f0af5c4962" /><Relationship Type="http://schemas.openxmlformats.org/officeDocument/2006/relationships/image" Target="/ppt/media/image15.png" Id="R589fdeb32e674641" /><Relationship Type="http://schemas.openxmlformats.org/officeDocument/2006/relationships/notesSlide" Target="/ppt/notesSlides/notesSlide15.xml" Id="R3fa63e91ec854c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9684088cb74041" /><Relationship Type="http://schemas.openxmlformats.org/officeDocument/2006/relationships/image" Target="/ppt/media/image16.png" Id="R6cc8b71f7aea4648" /><Relationship Type="http://schemas.openxmlformats.org/officeDocument/2006/relationships/notesSlide" Target="/ppt/notesSlides/notesSlide16.xml" Id="Rfcdbe4f1a1914be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b85dde137384459" /><Relationship Type="http://schemas.openxmlformats.org/officeDocument/2006/relationships/image" Target="/ppt/media/image17.png" Id="R01d4d0ca07184f69" /><Relationship Type="http://schemas.openxmlformats.org/officeDocument/2006/relationships/notesSlide" Target="/ppt/notesSlides/notesSlide17.xml" Id="R0f17b6212c404a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3a563c4d2a42ec" /><Relationship Type="http://schemas.openxmlformats.org/officeDocument/2006/relationships/image" Target="/ppt/media/image18.png" Id="Rbbd4a019cfe74250" /><Relationship Type="http://schemas.openxmlformats.org/officeDocument/2006/relationships/notesSlide" Target="/ppt/notesSlides/notesSlide18.xml" Id="Rd50104e36f4d4c1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ea5ca63fb584389" /><Relationship Type="http://schemas.openxmlformats.org/officeDocument/2006/relationships/image" Target="/ppt/media/image19.png" Id="R63e8b4ac0f50499d" /><Relationship Type="http://schemas.openxmlformats.org/officeDocument/2006/relationships/notesSlide" Target="/ppt/notesSlides/notesSlide19.xml" Id="R558c18f94c6d4f2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1d9c9f7bc744a8" /><Relationship Type="http://schemas.openxmlformats.org/officeDocument/2006/relationships/image" Target="/ppt/media/image20.png" Id="R98444f9f4c8d483b" /><Relationship Type="http://schemas.openxmlformats.org/officeDocument/2006/relationships/notesSlide" Target="/ppt/notesSlides/notesSlide20.xml" Id="Rf848eb5b0cc3467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e173991a97f486a"/>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F8AC12-E1A7-4B52-82E9-970B1E8D2D46}"/>
              </a:ext>
            </a:extLst>
          </p:cNvPr>
          <p:cNvSpPr>
            <a:spLocks xmlns:a="http://schemas.openxmlformats.org/drawingml/2006/main" noGrp="1"/>
          </p:cNvSpPr>
          <p:nvPr/>
        </p:nvSpPr>
        <p:spPr>
          <a:xfrm xmlns:a="http://schemas.openxmlformats.org/drawingml/2006/main">
            <a:off x="1104900" y="2686050"/>
            <a:ext cx="6934200" cy="3429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1C8D7161-9DEB-497D-AB41-85A8738770CD}"/>
              </a:ext>
            </a:extLst>
          </p:cNvPr>
          <p:cNvSpPr>
            <a:spLocks xmlns:a="http://schemas.openxmlformats.org/drawingml/2006/main" noGrp="1"/>
          </p:cNvSpPr>
          <p:nvPr/>
        </p:nvSpPr>
        <p:spPr>
          <a:xfrm xmlns:a="http://schemas.openxmlformats.org/drawingml/2006/main">
            <a:off x="1095375" y="2800350"/>
            <a:ext cx="695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SMART PERSONAL FINANCE</a:t>
            </a:r>
          </a:p>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&amp; BUDGET MANAGEMENT SYSTEM</a:t>
            </a:r>
          </a:p>
        </p:txBody>
      </p:sp>
      <p:sp>
        <p:nvSpPr>
          <p:cNvPr id="4" name="">
            <a:extLst xmlns:a="http://schemas.openxmlformats.org/drawingml/2006/main">
              <a:ext uri="{FF2B5EF4-FFF2-40B4-BE49-F238E27FC236}">
                <a16:creationId xmlns:a16="http://schemas.microsoft.com/office/drawing/2014/main" id="{E554C902-FC54-423F-8E5B-CAD63720824B}"/>
              </a:ext>
            </a:extLst>
          </p:cNvPr>
          <p:cNvSpPr>
            <a:spLocks xmlns:a="http://schemas.openxmlformats.org/drawingml/2006/main" noGrp="1"/>
          </p:cNvSpPr>
          <p:nvPr/>
        </p:nvSpPr>
        <p:spPr>
          <a:xfrm xmlns:a="http://schemas.openxmlformats.org/drawingml/2006/main">
            <a:off x="2381250" y="3762375"/>
            <a:ext cx="4381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Student Name [PID]</a:t>
            </a:r>
          </a:p>
          <a:p xmlns:a="http://schemas.openxmlformats.org/drawingml/2006/main">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Student Name [PID]</a:t>
            </a:r>
          </a:p>
          <a:p xmlns:a="http://schemas.openxmlformats.org/drawingml/2006/main">
            <a:pPr algn="ctr">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Student Name [PID]</a:t>
            </a:r>
          </a:p>
        </p:txBody>
      </p:sp>
      <p:sp>
        <p:nvSpPr>
          <p:cNvPr id="5" name="">
            <a:extLst xmlns:a="http://schemas.openxmlformats.org/drawingml/2006/main">
              <a:ext uri="{FF2B5EF4-FFF2-40B4-BE49-F238E27FC236}">
                <a16:creationId xmlns:a16="http://schemas.microsoft.com/office/drawing/2014/main" id="{CECD1583-3F33-4F37-8B09-93060A161FEA}"/>
              </a:ext>
            </a:extLst>
          </p:cNvPr>
          <p:cNvSpPr>
            <a:spLocks xmlns:a="http://schemas.openxmlformats.org/drawingml/2006/main" noGrp="1"/>
          </p:cNvSpPr>
          <p:nvPr/>
        </p:nvSpPr>
        <p:spPr>
          <a:xfrm xmlns:a="http://schemas.openxmlformats.org/drawingml/2006/main">
            <a:off x="2047875" y="5124450"/>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Name of the Guide | Designation</a:t>
            </a:r>
          </a:p>
        </p:txBody>
      </p:sp>
      <p:sp>
        <p:nvSpPr>
          <p:cNvPr id="6" name="">
            <a:extLst xmlns:a="http://schemas.openxmlformats.org/drawingml/2006/main">
              <a:ext uri="{FF2B5EF4-FFF2-40B4-BE49-F238E27FC236}">
                <a16:creationId xmlns:a16="http://schemas.microsoft.com/office/drawing/2014/main" id="{B5681476-C2DB-4C6B-826E-B6415EF38DA8}"/>
              </a:ext>
            </a:extLst>
          </p:cNvPr>
          <p:cNvSpPr>
            <a:spLocks xmlns:a="http://schemas.openxmlformats.org/drawingml/2006/main" noGrp="1"/>
          </p:cNvSpPr>
          <p:nvPr/>
        </p:nvSpPr>
        <p:spPr>
          <a:xfrm xmlns:a="http://schemas.openxmlformats.org/drawingml/2006/main">
            <a:off x="2952750" y="5848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September 23, 2026</a:t>
            </a:r>
          </a:p>
        </p:txBody>
      </p:sp>
    </p:spTree>
    <p:extLst>
      <p:ext uri="{BB962C8B-B14F-4D97-AF65-F5344CB8AC3E}">
        <p14:creationId xmlns:p14="http://schemas.microsoft.com/office/powerpoint/2010/main" val="18549737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0f3adc3eb5643de"/>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extLst>
      <p:ext uri="{BB962C8B-B14F-4D97-AF65-F5344CB8AC3E}">
        <p14:creationId xmlns:p14="http://schemas.microsoft.com/office/powerpoint/2010/main" val="20934272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83779e1d17684daa"/>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74AA582-6585-4828-AD8C-8C5187A75CFC}"/>
              </a:ext>
            </a:extLst>
          </p:cNvPr>
          <p:cNvSpPr>
            <a:spLocks xmlns:a="http://schemas.openxmlformats.org/drawingml/2006/main" noGrp="1"/>
          </p:cNvSpPr>
          <p:nvPr/>
        </p:nvSpPr>
        <p:spPr>
          <a:xfrm xmlns:a="http://schemas.openxmlformats.org/drawingml/2006/main">
            <a:off x="514350" y="1619250"/>
            <a:ext cx="8096250" cy="4286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9764A46A-2024-4BC0-A49F-B1E6EA3DD4D8}"/>
              </a:ext>
            </a:extLst>
          </p:cNvPr>
          <p:cNvSpPr>
            <a:spLocks xmlns:a="http://schemas.openxmlformats.org/drawingml/2006/main" noGrp="1"/>
          </p:cNvSpPr>
          <p:nvPr/>
        </p:nvSpPr>
        <p:spPr>
          <a:xfrm xmlns:a="http://schemas.openxmlformats.org/drawingml/2006/main">
            <a:off x="742950" y="1952625"/>
            <a:ext cx="7667625"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The Smart Personal Finance &amp; Budget Management System is a Flask and SQLite web application for recording income, expenses, budgets, and financial goals. It calculates a user's monthly surplus and safe investment capacity after allowing for an emergency reserve and active goal commitments. The system also presents stocks, gold rates, mutual fund information, and financial news through external APIs with SQLite cache fallbacks. A DSA-based recommendation engine filters, scores, and ranks investment options against the user's risk tolerance, time horizon, goal, liquidity needs, and available capacity. The result is an explainable academic prototype for practical personal-finance planning.</a:t>
            </a:r>
          </a:p>
        </p:txBody>
      </p:sp>
    </p:spTree>
    <p:extLst>
      <p:ext uri="{BB962C8B-B14F-4D97-AF65-F5344CB8AC3E}">
        <p14:creationId xmlns:p14="http://schemas.microsoft.com/office/powerpoint/2010/main" val="18961294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5b4eff26f264446"/>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62D9E7-364F-4C3B-AF4B-B6D597F6F31D}"/>
              </a:ext>
            </a:extLst>
          </p:cNvPr>
          <p:cNvSpPr>
            <a:spLocks xmlns:a="http://schemas.openxmlformats.org/drawingml/2006/main" noGrp="1"/>
          </p:cNvSpPr>
          <p:nvPr/>
        </p:nvSpPr>
        <p:spPr>
          <a:xfrm xmlns:a="http://schemas.openxmlformats.org/drawingml/2006/main">
            <a:off x="514350" y="1619250"/>
            <a:ext cx="8096250" cy="4286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B58F4DD9-8FD5-4711-AE1A-4848A95B9B86}"/>
              </a:ext>
            </a:extLst>
          </p:cNvPr>
          <p:cNvSpPr>
            <a:spLocks xmlns:a="http://schemas.openxmlformats.org/drawingml/2006/main" noGrp="1"/>
          </p:cNvSpPr>
          <p:nvPr/>
        </p:nvSpPr>
        <p:spPr>
          <a:xfrm xmlns:a="http://schemas.openxmlformats.org/drawingml/2006/main">
            <a:off x="742950" y="1733550"/>
            <a:ext cx="7667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latin typeface="Times New Roman"/>
                <a:ea typeface="Times New Roman"/>
                <a:cs typeface="Times New Roman"/>
              </a:defRPr>
            </a:pPr>
            <a:r>
              <a:rPr sz="1650" b="1">
                <a:solidFill>
                  <a:srgbClr val="000000"/>
                </a:solidFill>
                <a:latin typeface="Times New Roman"/>
                <a:ea typeface="Times New Roman"/>
                <a:cs typeface="Times New Roman"/>
              </a:rPr>
              <a:t>A full-stack web application for personal cash-flow tracking, budget planning, financial goals, and investment discovery.</a:t>
            </a:r>
          </a:p>
        </p:txBody>
      </p:sp>
      <p:sp>
        <p:nvSpPr>
          <p:cNvPr id="4" name="">
            <a:extLst xmlns:a="http://schemas.openxmlformats.org/drawingml/2006/main">
              <a:ext uri="{FF2B5EF4-FFF2-40B4-BE49-F238E27FC236}">
                <a16:creationId xmlns:a16="http://schemas.microsoft.com/office/drawing/2014/main" id="{DA9CE228-2B28-49CB-B4BE-9BBCA4CF5F0C}"/>
              </a:ext>
            </a:extLst>
          </p:cNvPr>
          <p:cNvSpPr>
            <a:spLocks xmlns:a="http://schemas.openxmlformats.org/drawingml/2006/main" noGrp="1"/>
          </p:cNvSpPr>
          <p:nvPr/>
        </p:nvSpPr>
        <p:spPr>
          <a:xfrm xmlns:a="http://schemas.openxmlformats.org/drawingml/2006/main">
            <a:off x="742950" y="234315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Objectives</a:t>
            </a:r>
          </a:p>
        </p:txBody>
      </p:sp>
      <p:sp>
        <p:nvSpPr>
          <p:cNvPr id="5" name="">
            <a:extLst xmlns:a="http://schemas.openxmlformats.org/drawingml/2006/main">
              <a:ext uri="{FF2B5EF4-FFF2-40B4-BE49-F238E27FC236}">
                <a16:creationId xmlns:a16="http://schemas.microsoft.com/office/drawing/2014/main" id="{06298D75-6551-40DF-8DEF-1C95BC17AF61}"/>
              </a:ext>
            </a:extLst>
          </p:cNvPr>
          <p:cNvSpPr>
            <a:spLocks xmlns:a="http://schemas.openxmlformats.org/drawingml/2006/main" noGrp="1"/>
          </p:cNvSpPr>
          <p:nvPr/>
        </p:nvSpPr>
        <p:spPr>
          <a:xfrm xmlns:a="http://schemas.openxmlformats.org/drawingml/2006/main">
            <a:off x="800100" y="2724150"/>
            <a:ext cx="75247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Record and review income, expenses, budgets, and financial goals in one portal.</a:t>
            </a:r>
          </a:p>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Calculate monthly surplus and a disciplined investment capacity.</a:t>
            </a:r>
          </a:p>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Match investment options to entered risk tolerance, horizon, goals, and capacity.</a:t>
            </a:r>
          </a:p>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Show financial market data with local cached fallbacks when an API is unavailable.</a:t>
            </a:r>
          </a:p>
        </p:txBody>
      </p:sp>
    </p:spTree>
    <p:extLst>
      <p:ext uri="{BB962C8B-B14F-4D97-AF65-F5344CB8AC3E}">
        <p14:creationId xmlns:p14="http://schemas.microsoft.com/office/powerpoint/2010/main" val="99391191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5114ec32735434b"/>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765765-5F43-4FF6-8B43-D3EC0E2DC346}"/>
              </a:ext>
            </a:extLst>
          </p:cNvPr>
          <p:cNvSpPr>
            <a:spLocks xmlns:a="http://schemas.openxmlformats.org/drawingml/2006/main" noGrp="1"/>
          </p:cNvSpPr>
          <p:nvPr/>
        </p:nvSpPr>
        <p:spPr>
          <a:xfrm xmlns:a="http://schemas.openxmlformats.org/drawingml/2006/main">
            <a:off x="514350" y="1762125"/>
            <a:ext cx="8096250" cy="4095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325B8844-9821-4DCE-949B-C8491F01EFB4}"/>
              </a:ext>
            </a:extLst>
          </p:cNvPr>
          <p:cNvSpPr>
            <a:spLocks xmlns:a="http://schemas.openxmlformats.org/drawingml/2006/main" noGrp="1"/>
          </p:cNvSpPr>
          <p:nvPr/>
        </p:nvSpPr>
        <p:spPr>
          <a:xfrm xmlns:a="http://schemas.openxmlformats.org/drawingml/2006/main">
            <a:off x="800100" y="2019300"/>
            <a:ext cx="7524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Personal financial information is often spread across notebooks, banking apps, and separate market portals.</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Users need early warnings when category spending approaches a budget limit.</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A savings figure alone does not show how much money can be invested safely.</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Investment options need clear, criteria-based matching instead of generic suggestions.</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The problem provides a practical use case for data structures and algorithms in a web system.</a:t>
            </a:r>
          </a:p>
        </p:txBody>
      </p:sp>
    </p:spTree>
    <p:extLst>
      <p:ext uri="{BB962C8B-B14F-4D97-AF65-F5344CB8AC3E}">
        <p14:creationId xmlns:p14="http://schemas.microsoft.com/office/powerpoint/2010/main" val="63448598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c564a37c901495d"/>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675BB8-643D-4922-AD91-11173B38EA30}"/>
              </a:ext>
            </a:extLst>
          </p:cNvPr>
          <p:cNvSpPr>
            <a:spLocks xmlns:a="http://schemas.openxmlformats.org/drawingml/2006/main" noGrp="1"/>
          </p:cNvSpPr>
          <p:nvPr/>
        </p:nvSpPr>
        <p:spPr>
          <a:xfrm xmlns:a="http://schemas.openxmlformats.org/drawingml/2006/main">
            <a:off x="514350" y="1809750"/>
            <a:ext cx="8096250" cy="404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E6AF0964-4A82-4EB4-B753-3C90A58563C1}"/>
              </a:ext>
            </a:extLst>
          </p:cNvPr>
          <p:cNvSpPr>
            <a:spLocks xmlns:a="http://schemas.openxmlformats.org/drawingml/2006/main" noGrp="1"/>
          </p:cNvSpPr>
          <p:nvPr/>
        </p:nvSpPr>
        <p:spPr>
          <a:xfrm xmlns:a="http://schemas.openxmlformats.org/drawingml/2006/main">
            <a:off x="800100" y="2095500"/>
            <a:ext cx="75247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10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Many users cannot clearly compare monthly income with categorized spending and active budget limits.</a:t>
            </a:r>
          </a:p>
          <a:p xmlns:a="http://schemas.openxmlformats.org/drawingml/2006/main">
            <a:pPr marL="228600" indent="-114300">
              <a:spcAft>
                <a:spcPts val="10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Expense trackers rarely deduct emergency reserves and goal obligations before presenting investment options.</a:t>
            </a:r>
          </a:p>
          <a:p xmlns:a="http://schemas.openxmlformats.org/drawingml/2006/main">
            <a:pPr marL="228600" indent="-114300">
              <a:spcAft>
                <a:spcPts val="10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Market prices, gold rates, mutual fund data, and financial news require users to visit disconnected sources.</a:t>
            </a:r>
          </a:p>
          <a:p xmlns:a="http://schemas.openxmlformats.org/drawingml/2006/main">
            <a:pPr marL="228600" indent="-114300">
              <a:spcAft>
                <a:spcPts val="10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Generic investment suggestions may ignore the user's risk tolerance, horizon, affordability, and liquidity needs.</a:t>
            </a:r>
          </a:p>
        </p:txBody>
      </p:sp>
    </p:spTree>
    <p:extLst>
      <p:ext uri="{BB962C8B-B14F-4D97-AF65-F5344CB8AC3E}">
        <p14:creationId xmlns:p14="http://schemas.microsoft.com/office/powerpoint/2010/main" val="144457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f9839d4d0b0f4adb"/>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9A3EFAB-ECBD-4C4A-916C-D3BF0127461D}"/>
              </a:ext>
            </a:extLst>
          </p:cNvPr>
          <p:cNvSpPr>
            <a:spLocks xmlns:a="http://schemas.openxmlformats.org/drawingml/2006/main" noGrp="1"/>
          </p:cNvSpPr>
          <p:nvPr/>
        </p:nvSpPr>
        <p:spPr>
          <a:xfrm xmlns:a="http://schemas.openxmlformats.org/drawingml/2006/main">
            <a:off x="457200" y="1619250"/>
            <a:ext cx="8239125" cy="42862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6" name=""/>
          <p:cNvGraphicFramePr/>
          <p:nvPr/>
        </p:nvGraphicFramePr>
        <p:xfrm>
          <a:off xmlns:a="http://schemas.openxmlformats.org/drawingml/2006/main" x="552450" y="1857375"/>
          <a:ext xmlns:a="http://schemas.openxmlformats.org/drawingml/2006/main" cx="8039100" cy="2914650"/>
        </p:xfrm>
        <a:graphic xmlns:a="http://schemas.openxmlformats.org/drawingml/2006/main">
          <a:graphicData uri="http://schemas.openxmlformats.org/drawingml/2006/table">
            <a:tbl>
              <a:tblPr/>
              <a:tblGrid>
                <a:gridCol w="1952625"/>
                <a:gridCol w="2571750"/>
                <a:gridCol w="3514725"/>
              </a:tblGrid>
              <a:tr h="523875">
                <a:tc>
                  <a:txBody>
                    <a:bodyPr/>
                    <a:lstStyle/>
                    <a:p>
                      <a:r>
                        <a:t>Existing approach</a:t>
                      </a:r>
                    </a:p>
                  </a:txBody>
                  <a:tcPr marL="91440" marR="91440" marT="45720" marB="45720"/>
                </a:tc>
                <a:tc>
                  <a:txBody>
                    <a:bodyPr/>
                    <a:lstStyle/>
                    <a:p>
                      <a:r>
                        <a:t>What it provides</a:t>
                      </a:r>
                    </a:p>
                  </a:txBody>
                  <a:tcPr marL="91440" marR="91440" marT="45720" marB="45720"/>
                </a:tc>
                <a:tc>
                  <a:txBody>
                    <a:bodyPr/>
                    <a:lstStyle/>
                    <a:p>
                      <a:r>
                        <a:t>Gap addressed by this project</a:t>
                      </a:r>
                    </a:p>
                  </a:txBody>
                  <a:tcPr marL="91440" marR="91440" marT="45720" marB="45720"/>
                </a:tc>
              </a:tr>
              <a:tr h="0">
                <a:tc>
                  <a:txBody>
                    <a:bodyPr/>
                    <a:lstStyle/>
                    <a:p>
                      <a:r>
                        <a:t>Expense tracker</a:t>
                      </a:r>
                    </a:p>
                  </a:txBody>
                  <a:tcPr marL="91440" marR="91440" marT="45720" marB="45720"/>
                </a:tc>
                <a:tc>
                  <a:txBody>
                    <a:bodyPr/>
                    <a:lstStyle/>
                    <a:p>
                      <a:r>
                        <a:t>Income and expense entry</a:t>
                      </a:r>
                    </a:p>
                  </a:txBody>
                  <a:tcPr marL="91440" marR="91440" marT="45720" marB="45720"/>
                </a:tc>
                <a:tc>
                  <a:txBody>
                    <a:bodyPr/>
                    <a:lstStyle/>
                    <a:p>
                      <a:r>
                        <a:t>No goal-adjusted investment capacity or ranking</a:t>
                      </a:r>
                    </a:p>
                  </a:txBody>
                  <a:tcPr marL="91440" marR="91440" marT="45720" marB="45720"/>
                </a:tc>
              </a:tr>
              <a:tr h="0">
                <a:tc>
                  <a:txBody>
                    <a:bodyPr/>
                    <a:lstStyle/>
                    <a:p>
                      <a:r>
                        <a:t>Market portal</a:t>
                      </a:r>
                    </a:p>
                  </a:txBody>
                  <a:tcPr marL="91440" marR="91440" marT="45720" marB="45720"/>
                </a:tc>
                <a:tc>
                  <a:txBody>
                    <a:bodyPr/>
                    <a:lstStyle/>
                    <a:p>
                      <a:r>
                        <a:t>Quotes for one asset class</a:t>
                      </a:r>
                    </a:p>
                  </a:txBody>
                  <a:tcPr marL="91440" marR="91440" marT="45720" marB="45720"/>
                </a:tc>
                <a:tc>
                  <a:txBody>
                    <a:bodyPr/>
                    <a:lstStyle/>
                    <a:p>
                      <a:r>
                        <a:t>No connection to personal cash flow or budgets</a:t>
                      </a:r>
                    </a:p>
                  </a:txBody>
                  <a:tcPr marL="91440" marR="91440" marT="45720" marB="45720"/>
                </a:tc>
              </a:tr>
              <a:tr h="0">
                <a:tc>
                  <a:txBody>
                    <a:bodyPr/>
                    <a:lstStyle/>
                    <a:p>
                      <a:r>
                        <a:t>Generic investment widget</a:t>
                      </a:r>
                    </a:p>
                  </a:txBody>
                  <a:tcPr marL="91440" marR="91440" marT="45720" marB="45720"/>
                </a:tc>
                <a:tc>
                  <a:txBody>
                    <a:bodyPr/>
                    <a:lstStyle/>
                    <a:p>
                      <a:r>
                        <a:t>Basic category suggestions</a:t>
                      </a:r>
                    </a:p>
                  </a:txBody>
                  <a:tcPr marL="91440" marR="91440" marT="45720" marB="45720"/>
                </a:tc>
                <a:tc>
                  <a:txBody>
                    <a:bodyPr/>
                    <a:lstStyle/>
                    <a:p>
                      <a:r>
                        <a:t>Limited explanation of risk, affordability, and horizon fit</a:t>
                      </a:r>
                    </a:p>
                  </a:txBody>
                  <a:tcPr marL="91440" marR="91440" marT="45720" marB="45720"/>
                </a:tc>
              </a:tr>
              <a:tr h="0">
                <a:tc>
                  <a:txBody>
                    <a:bodyPr/>
                    <a:lstStyle/>
                    <a:p>
                      <a:r>
                        <a:t>Proposed system</a:t>
                      </a:r>
                    </a:p>
                  </a:txBody>
                  <a:tcPr marL="91440" marR="91440" marT="45720" marB="45720"/>
                </a:tc>
                <a:tc>
                  <a:txBody>
                    <a:bodyPr/>
                    <a:lstStyle/>
                    <a:p>
                      <a:r>
                        <a:t>Finance records, data feeds, and matching</a:t>
                      </a:r>
                    </a:p>
                  </a:txBody>
                  <a:tcPr marL="91440" marR="91440" marT="45720" marB="45720"/>
                </a:tc>
                <a:tc>
                  <a:txBody>
                    <a:bodyPr/>
                    <a:lstStyle/>
                    <a:p>
                      <a:r>
                        <a:t>Integrates planning and explainable DSA ranking</a:t>
                      </a:r>
                    </a:p>
                  </a:txBody>
                  <a:tcPr marL="91440" marR="91440" marT="45720" marB="45720"/>
                </a:tc>
              </a:tr>
            </a:tbl>
          </a:graphicData>
        </a:graphic>
      </p:graphicFrame>
    </p:spTree>
    <p:extLst>
      <p:ext uri="{BB962C8B-B14F-4D97-AF65-F5344CB8AC3E}">
        <p14:creationId xmlns:p14="http://schemas.microsoft.com/office/powerpoint/2010/main" val="13478998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b0896ce03d5c4c5f"/>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ECF06F-4691-4661-AA52-6663DDCE8B96}"/>
              </a:ext>
            </a:extLst>
          </p:cNvPr>
          <p:cNvSpPr>
            <a:spLocks xmlns:a="http://schemas.openxmlformats.org/drawingml/2006/main" noGrp="1"/>
          </p:cNvSpPr>
          <p:nvPr/>
        </p:nvSpPr>
        <p:spPr>
          <a:xfrm xmlns:a="http://schemas.openxmlformats.org/drawingml/2006/main">
            <a:off x="514350" y="1809750"/>
            <a:ext cx="8096250" cy="404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C2BC5DB8-CFB4-48DE-ACCA-5BA8CB8DEFAD}"/>
              </a:ext>
            </a:extLst>
          </p:cNvPr>
          <p:cNvSpPr>
            <a:spLocks xmlns:a="http://schemas.openxmlformats.org/drawingml/2006/main" noGrp="1"/>
          </p:cNvSpPr>
          <p:nvPr/>
        </p:nvSpPr>
        <p:spPr>
          <a:xfrm xmlns:a="http://schemas.openxmlformats.org/drawingml/2006/main">
            <a:off x="742950" y="1952625"/>
            <a:ext cx="647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Research gap addressed by the proposed system</a:t>
            </a:r>
          </a:p>
        </p:txBody>
      </p:sp>
      <p:sp>
        <p:nvSpPr>
          <p:cNvPr id="4" name="">
            <a:extLst xmlns:a="http://schemas.openxmlformats.org/drawingml/2006/main">
              <a:ext uri="{FF2B5EF4-FFF2-40B4-BE49-F238E27FC236}">
                <a16:creationId xmlns:a16="http://schemas.microsoft.com/office/drawing/2014/main" id="{58753457-03F0-43CE-9C70-BE4BEF989203}"/>
              </a:ext>
            </a:extLst>
          </p:cNvPr>
          <p:cNvSpPr>
            <a:spLocks xmlns:a="http://schemas.openxmlformats.org/drawingml/2006/main" noGrp="1"/>
          </p:cNvSpPr>
          <p:nvPr/>
        </p:nvSpPr>
        <p:spPr>
          <a:xfrm xmlns:a="http://schemas.openxmlformats.org/drawingml/2006/main">
            <a:off x="800100" y="2476500"/>
            <a:ext cx="752475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A single workflow is needed from financial recording to investment-option matching.</a:t>
            </a:r>
          </a:p>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Investment capacity should account for emergency reserve allocation and goal commitments.</a:t>
            </a:r>
          </a:p>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Recommendations should explain the score instead of hiding the matching logic.</a:t>
            </a:r>
          </a:p>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Live financial data should remain usable when network access or API quotas fail.</a:t>
            </a:r>
          </a:p>
          <a:p xmlns:a="http://schemas.openxmlformats.org/drawingml/2006/main">
            <a:pPr marL="228600" indent="-114300">
              <a:spcAft>
                <a:spcPts val="8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Academic DSA implementations should operate on meaningful system data rather than isolated examples.</a:t>
            </a:r>
          </a:p>
        </p:txBody>
      </p:sp>
    </p:spTree>
    <p:extLst>
      <p:ext uri="{BB962C8B-B14F-4D97-AF65-F5344CB8AC3E}">
        <p14:creationId xmlns:p14="http://schemas.microsoft.com/office/powerpoint/2010/main" val="15905863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3293692951bd4343"/>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EB36A3-E0C9-432F-B2CE-7159CAD8D767}"/>
              </a:ext>
            </a:extLst>
          </p:cNvPr>
          <p:cNvSpPr>
            <a:spLocks xmlns:a="http://schemas.openxmlformats.org/drawingml/2006/main" noGrp="1"/>
          </p:cNvSpPr>
          <p:nvPr/>
        </p:nvSpPr>
        <p:spPr>
          <a:xfrm xmlns:a="http://schemas.openxmlformats.org/drawingml/2006/main">
            <a:off x="514350" y="1762125"/>
            <a:ext cx="8096250" cy="4095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61F03A85-4F0C-40B4-BB4C-A817E6C58CBE}"/>
              </a:ext>
            </a:extLst>
          </p:cNvPr>
          <p:cNvSpPr>
            <a:spLocks xmlns:a="http://schemas.openxmlformats.org/drawingml/2006/main" noGrp="1"/>
          </p:cNvSpPr>
          <p:nvPr/>
        </p:nvSpPr>
        <p:spPr>
          <a:xfrm xmlns:a="http://schemas.openxmlformats.org/drawingml/2006/main">
            <a:off x="800100" y="2047875"/>
            <a:ext cx="7524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9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A secure Flask portal with registration, session control, and hashed passwords.</a:t>
            </a:r>
          </a:p>
          <a:p xmlns:a="http://schemas.openxmlformats.org/drawingml/2006/main">
            <a:pPr marL="228600" indent="-114300">
              <a:spcAft>
                <a:spcPts val="9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SQLite schema with foreign keys, validation constraints, audit records, and automatic first-run setup.</a:t>
            </a:r>
          </a:p>
          <a:p xmlns:a="http://schemas.openxmlformats.org/drawingml/2006/main">
            <a:pPr marL="228600" indent="-114300">
              <a:spcAft>
                <a:spcPts val="9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Budget status indicators and goal progress calculations for daily financial planning.</a:t>
            </a:r>
          </a:p>
          <a:p xmlns:a="http://schemas.openxmlformats.org/drawingml/2006/main">
            <a:pPr marL="228600" indent="-114300">
              <a:spcAft>
                <a:spcPts val="9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Searching, sorting, filtering, hash indexing, and max-heap ranking modules for investment matching.</a:t>
            </a:r>
          </a:p>
          <a:p xmlns:a="http://schemas.openxmlformats.org/drawingml/2006/main">
            <a:pPr marL="228600" indent="-114300">
              <a:spcAft>
                <a:spcPts val="9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External financial data clients with cached fallback records for reliable demonstrations.</a:t>
            </a:r>
          </a:p>
        </p:txBody>
      </p:sp>
    </p:spTree>
    <p:extLst>
      <p:ext uri="{BB962C8B-B14F-4D97-AF65-F5344CB8AC3E}">
        <p14:creationId xmlns:p14="http://schemas.microsoft.com/office/powerpoint/2010/main" val="9680543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8723bb151c34030"/>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731BFB4-C372-4885-B592-F020434F414B}"/>
              </a:ext>
            </a:extLst>
          </p:cNvPr>
          <p:cNvSpPr>
            <a:spLocks xmlns:a="http://schemas.openxmlformats.org/drawingml/2006/main" noGrp="1"/>
          </p:cNvSpPr>
          <p:nvPr/>
        </p:nvSpPr>
        <p:spPr>
          <a:xfrm xmlns:a="http://schemas.openxmlformats.org/drawingml/2006/main">
            <a:off x="428625" y="1571625"/>
            <a:ext cx="8334375" cy="4572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3638401A-C9C3-4B26-8BB8-B65AD8673E36}"/>
              </a:ext>
            </a:extLst>
          </p:cNvPr>
          <p:cNvSpPr>
            <a:spLocks xmlns:a="http://schemas.openxmlformats.org/drawingml/2006/main" noGrp="1"/>
          </p:cNvSpPr>
          <p:nvPr/>
        </p:nvSpPr>
        <p:spPr>
          <a:xfrm xmlns:a="http://schemas.openxmlformats.org/drawingml/2006/main">
            <a:off x="666750" y="1952625"/>
            <a:ext cx="20002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User Browser</a:t>
            </a:r>
          </a:p>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HTML5, CSS3, JavaScript</a:t>
            </a:r>
          </a:p>
        </p:txBody>
      </p:sp>
      <p:sp>
        <p:nvSpPr>
          <p:cNvPr id="4" name="">
            <a:extLst xmlns:a="http://schemas.openxmlformats.org/drawingml/2006/main">
              <a:ext uri="{FF2B5EF4-FFF2-40B4-BE49-F238E27FC236}">
                <a16:creationId xmlns:a16="http://schemas.microsoft.com/office/drawing/2014/main" id="{7F58169D-6F7A-4F82-A343-A03117DAC0F2}"/>
              </a:ext>
            </a:extLst>
          </p:cNvPr>
          <p:cNvSpPr>
            <a:spLocks xmlns:a="http://schemas.openxmlformats.org/drawingml/2006/main" noGrp="1"/>
          </p:cNvSpPr>
          <p:nvPr/>
        </p:nvSpPr>
        <p:spPr>
          <a:xfrm xmlns:a="http://schemas.openxmlformats.org/drawingml/2006/main">
            <a:off x="3571875" y="1952625"/>
            <a:ext cx="20002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Flask Application Layer</a:t>
            </a:r>
          </a:p>
          <a:p xmlns:a="http://schemas.openxmlformats.org/drawingml/2006/main">
            <a:pPr algn="ctr">
              <a:defRPr sz="1350" b="1">
                <a:solidFill>
                  <a:srgbClr val="000000"/>
                </a:solidFill>
                <a:latin typeface="Times New Roman"/>
                <a:ea typeface="Times New Roman"/>
                <a:cs typeface="Times New Roman"/>
              </a:defRPr>
            </a:pPr>
            <a:r>
              <a:rPr sz="1350" b="1">
                <a:solidFill>
                  <a:srgbClr val="000000"/>
                </a:solidFill>
                <a:latin typeface="Times New Roman"/>
                <a:ea typeface="Times New Roman"/>
                <a:cs typeface="Times New Roman"/>
              </a:rPr>
              <a:t>Routes and session guard</a:t>
            </a:r>
          </a:p>
        </p:txBody>
      </p:sp>
      <p:sp>
        <p:nvSpPr>
          <p:cNvPr id="5" name="">
            <a:extLst xmlns:a="http://schemas.openxmlformats.org/drawingml/2006/main">
              <a:ext uri="{FF2B5EF4-FFF2-40B4-BE49-F238E27FC236}">
                <a16:creationId xmlns:a16="http://schemas.microsoft.com/office/drawing/2014/main" id="{2BFBD4CD-5BA7-4154-8027-AB8569F16638}"/>
              </a:ext>
            </a:extLst>
          </p:cNvPr>
          <p:cNvSpPr>
            <a:spLocks xmlns:a="http://schemas.openxmlformats.org/drawingml/2006/main" noGrp="1"/>
          </p:cNvSpPr>
          <p:nvPr/>
        </p:nvSpPr>
        <p:spPr>
          <a:xfrm xmlns:a="http://schemas.openxmlformats.org/drawingml/2006/main">
            <a:off x="6477000" y="1952625"/>
            <a:ext cx="2000250" cy="6286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SQLite Database</a:t>
            </a:r>
          </a:p>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Records, cache, audit logs</a:t>
            </a:r>
          </a:p>
        </p:txBody>
      </p:sp>
      <p:sp>
        <p:nvSpPr>
          <p:cNvPr id="6" name="">
            <a:extLst xmlns:a="http://schemas.openxmlformats.org/drawingml/2006/main">
              <a:ext uri="{FF2B5EF4-FFF2-40B4-BE49-F238E27FC236}">
                <a16:creationId xmlns:a16="http://schemas.microsoft.com/office/drawing/2014/main" id="{954A12AD-D172-44EE-89D0-31AED02D86F9}"/>
              </a:ext>
            </a:extLst>
          </p:cNvPr>
          <p:cNvSpPr>
            <a:spLocks xmlns:a="http://schemas.openxmlformats.org/drawingml/2006/main" noGrp="1"/>
          </p:cNvSpPr>
          <p:nvPr/>
        </p:nvSpPr>
        <p:spPr>
          <a:xfrm xmlns:a="http://schemas.openxmlformats.org/drawingml/2006/main">
            <a:off x="695325" y="3476625"/>
            <a:ext cx="2333625"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Services</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Auth, finance, dashboard, investment</a:t>
            </a:r>
          </a:p>
        </p:txBody>
      </p:sp>
      <p:sp>
        <p:nvSpPr>
          <p:cNvPr id="7" name="">
            <a:extLst xmlns:a="http://schemas.openxmlformats.org/drawingml/2006/main">
              <a:ext uri="{FF2B5EF4-FFF2-40B4-BE49-F238E27FC236}">
                <a16:creationId xmlns:a16="http://schemas.microsoft.com/office/drawing/2014/main" id="{2FD17A2C-665A-4BC8-B729-26845069BF3C}"/>
              </a:ext>
            </a:extLst>
          </p:cNvPr>
          <p:cNvSpPr>
            <a:spLocks xmlns:a="http://schemas.openxmlformats.org/drawingml/2006/main" noGrp="1"/>
          </p:cNvSpPr>
          <p:nvPr/>
        </p:nvSpPr>
        <p:spPr>
          <a:xfrm xmlns:a="http://schemas.openxmlformats.org/drawingml/2006/main">
            <a:off x="3409950" y="3476625"/>
            <a:ext cx="2333625"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DSA Layer</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Search, sort, filter, hash index, max-heap</a:t>
            </a:r>
          </a:p>
        </p:txBody>
      </p:sp>
      <p:sp>
        <p:nvSpPr>
          <p:cNvPr id="8" name="">
            <a:extLst xmlns:a="http://schemas.openxmlformats.org/drawingml/2006/main">
              <a:ext uri="{FF2B5EF4-FFF2-40B4-BE49-F238E27FC236}">
                <a16:creationId xmlns:a16="http://schemas.microsoft.com/office/drawing/2014/main" id="{3E90EBFD-1210-45B3-851B-F754BF581FB1}"/>
              </a:ext>
            </a:extLst>
          </p:cNvPr>
          <p:cNvSpPr>
            <a:spLocks xmlns:a="http://schemas.openxmlformats.org/drawingml/2006/main" noGrp="1"/>
          </p:cNvSpPr>
          <p:nvPr/>
        </p:nvSpPr>
        <p:spPr>
          <a:xfrm xmlns:a="http://schemas.openxmlformats.org/drawingml/2006/main">
            <a:off x="6124575" y="3476625"/>
            <a:ext cx="2333625"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External API Clients</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Stocks, gold, news, mutual funds</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667000" y="2266950"/>
            <a:ext cx="904875" cy="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5572125" y="2266950"/>
            <a:ext cx="904875" cy="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5" name=""/>
          <p:cNvCxnSpPr>
            <a:stCxn xmlns:a="http://schemas.openxmlformats.org/drawingml/2006/main" id="4" idx="2"/>
            <a:endCxn xmlns:a="http://schemas.openxmlformats.org/drawingml/2006/main" id="6" idx="0"/>
          </p:cNvCxnSpPr>
          <p:nvPr/>
        </p:nvCxnSpPr>
        <p:spPr>
          <a:xfrm xmlns:a="http://schemas.openxmlformats.org/drawingml/2006/main" flipH="1">
            <a:off x="1862138" y="2581275"/>
            <a:ext cx="2709863" cy="89535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6" name=""/>
          <p:cNvCxnSpPr>
            <a:stCxn xmlns:a="http://schemas.openxmlformats.org/drawingml/2006/main" id="4" idx="2"/>
            <a:endCxn xmlns:a="http://schemas.openxmlformats.org/drawingml/2006/main" id="7" idx="0"/>
          </p:cNvCxnSpPr>
          <p:nvPr/>
        </p:nvCxnSpPr>
        <p:spPr>
          <a:xfrm xmlns:a="http://schemas.openxmlformats.org/drawingml/2006/main">
            <a:off x="4572000" y="2581275"/>
            <a:ext cx="4763" cy="89535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7" name=""/>
          <p:cNvCxnSpPr>
            <a:stCxn xmlns:a="http://schemas.openxmlformats.org/drawingml/2006/main" id="4" idx="2"/>
            <a:endCxn xmlns:a="http://schemas.openxmlformats.org/drawingml/2006/main" id="8" idx="0"/>
          </p:cNvCxnSpPr>
          <p:nvPr/>
        </p:nvCxnSpPr>
        <p:spPr>
          <a:xfrm xmlns:a="http://schemas.openxmlformats.org/drawingml/2006/main">
            <a:off x="4572000" y="2581275"/>
            <a:ext cx="2719388" cy="89535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sp>
        <p:nvSpPr>
          <p:cNvPr id="14" name="">
            <a:extLst xmlns:a="http://schemas.openxmlformats.org/drawingml/2006/main">
              <a:ext uri="{FF2B5EF4-FFF2-40B4-BE49-F238E27FC236}">
                <a16:creationId xmlns:a16="http://schemas.microsoft.com/office/drawing/2014/main" id="{B7B509C2-EA58-4350-997E-5D06CDA18426}"/>
              </a:ext>
            </a:extLst>
          </p:cNvPr>
          <p:cNvSpPr>
            <a:spLocks xmlns:a="http://schemas.openxmlformats.org/drawingml/2006/main" noGrp="1"/>
          </p:cNvSpPr>
          <p:nvPr/>
        </p:nvSpPr>
        <p:spPr>
          <a:xfrm xmlns:a="http://schemas.openxmlformats.org/drawingml/2006/main">
            <a:off x="781050" y="4857750"/>
            <a:ext cx="7524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The application combines user records, DSA modules, and market-data clients through a Flask service layer.</a:t>
            </a:r>
          </a:p>
        </p:txBody>
      </p:sp>
    </p:spTree>
    <p:extLst>
      <p:ext uri="{BB962C8B-B14F-4D97-AF65-F5344CB8AC3E}">
        <p14:creationId xmlns:p14="http://schemas.microsoft.com/office/powerpoint/2010/main" val="16803145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560717fff324b06"/>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8F5980-815C-4F5F-94A3-C304F0C288E0}"/>
              </a:ext>
            </a:extLst>
          </p:cNvPr>
          <p:cNvSpPr>
            <a:spLocks xmlns:a="http://schemas.openxmlformats.org/drawingml/2006/main" noGrp="1"/>
          </p:cNvSpPr>
          <p:nvPr/>
        </p:nvSpPr>
        <p:spPr>
          <a:xfrm xmlns:a="http://schemas.openxmlformats.org/drawingml/2006/main">
            <a:off x="428625" y="2428875"/>
            <a:ext cx="8334375" cy="37147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219D9869-77D4-411A-ABC8-02C06417696A}"/>
              </a:ext>
            </a:extLst>
          </p:cNvPr>
          <p:cNvSpPr>
            <a:spLocks xmlns:a="http://schemas.openxmlformats.org/drawingml/2006/main" noGrp="1"/>
          </p:cNvSpPr>
          <p:nvPr/>
        </p:nvSpPr>
        <p:spPr>
          <a:xfrm xmlns:a="http://schemas.openxmlformats.org/drawingml/2006/main">
            <a:off x="523875" y="2571750"/>
            <a:ext cx="22860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1. User input</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Income, expense, goal, profile</a:t>
            </a:r>
          </a:p>
        </p:txBody>
      </p:sp>
      <p:sp>
        <p:nvSpPr>
          <p:cNvPr id="4" name="">
            <a:extLst xmlns:a="http://schemas.openxmlformats.org/drawingml/2006/main">
              <a:ext uri="{FF2B5EF4-FFF2-40B4-BE49-F238E27FC236}">
                <a16:creationId xmlns:a16="http://schemas.microsoft.com/office/drawing/2014/main" id="{743D071F-3006-4243-A5A4-C4AD5BD7A227}"/>
              </a:ext>
            </a:extLst>
          </p:cNvPr>
          <p:cNvSpPr>
            <a:spLocks xmlns:a="http://schemas.openxmlformats.org/drawingml/2006/main" noGrp="1"/>
          </p:cNvSpPr>
          <p:nvPr/>
        </p:nvSpPr>
        <p:spPr>
          <a:xfrm xmlns:a="http://schemas.openxmlformats.org/drawingml/2006/main">
            <a:off x="3429000" y="2571750"/>
            <a:ext cx="22860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2. Cash-flow calculation</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Surplus = income - expenses</a:t>
            </a:r>
          </a:p>
        </p:txBody>
      </p:sp>
      <p:sp>
        <p:nvSpPr>
          <p:cNvPr id="5" name="">
            <a:extLst xmlns:a="http://schemas.openxmlformats.org/drawingml/2006/main">
              <a:ext uri="{FF2B5EF4-FFF2-40B4-BE49-F238E27FC236}">
                <a16:creationId xmlns:a16="http://schemas.microsoft.com/office/drawing/2014/main" id="{3DE9B830-274A-4E6B-84D9-CDDE4F48F3A9}"/>
              </a:ext>
            </a:extLst>
          </p:cNvPr>
          <p:cNvSpPr>
            <a:spLocks xmlns:a="http://schemas.openxmlformats.org/drawingml/2006/main" noGrp="1"/>
          </p:cNvSpPr>
          <p:nvPr/>
        </p:nvSpPr>
        <p:spPr>
          <a:xfrm xmlns:a="http://schemas.openxmlformats.org/drawingml/2006/main">
            <a:off x="6334125" y="2571750"/>
            <a:ext cx="22860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3. Safe capacity</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Subtract reserve and goal amount</a:t>
            </a:r>
          </a:p>
        </p:txBody>
      </p:sp>
      <p:sp>
        <p:nvSpPr>
          <p:cNvPr id="6" name="">
            <a:extLst xmlns:a="http://schemas.openxmlformats.org/drawingml/2006/main">
              <a:ext uri="{FF2B5EF4-FFF2-40B4-BE49-F238E27FC236}">
                <a16:creationId xmlns:a16="http://schemas.microsoft.com/office/drawing/2014/main" id="{AB23C390-647F-4FF9-B6F1-E2076478CF09}"/>
              </a:ext>
            </a:extLst>
          </p:cNvPr>
          <p:cNvSpPr>
            <a:spLocks xmlns:a="http://schemas.openxmlformats.org/drawingml/2006/main" noGrp="1"/>
          </p:cNvSpPr>
          <p:nvPr/>
        </p:nvSpPr>
        <p:spPr>
          <a:xfrm xmlns:a="http://schemas.openxmlformats.org/drawingml/2006/main">
            <a:off x="523875" y="3810000"/>
            <a:ext cx="22860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4. Filter candidates</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Risk, amount, horizon, category</a:t>
            </a:r>
          </a:p>
        </p:txBody>
      </p:sp>
      <p:sp>
        <p:nvSpPr>
          <p:cNvPr id="7" name="">
            <a:extLst xmlns:a="http://schemas.openxmlformats.org/drawingml/2006/main">
              <a:ext uri="{FF2B5EF4-FFF2-40B4-BE49-F238E27FC236}">
                <a16:creationId xmlns:a16="http://schemas.microsoft.com/office/drawing/2014/main" id="{868A81BD-6A50-444A-8A95-E684EE263E33}"/>
              </a:ext>
            </a:extLst>
          </p:cNvPr>
          <p:cNvSpPr>
            <a:spLocks xmlns:a="http://schemas.openxmlformats.org/drawingml/2006/main" noGrp="1"/>
          </p:cNvSpPr>
          <p:nvPr/>
        </p:nvSpPr>
        <p:spPr>
          <a:xfrm xmlns:a="http://schemas.openxmlformats.org/drawingml/2006/main">
            <a:off x="3429000" y="3810000"/>
            <a:ext cx="22860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5. Score matches</a:t>
            </a:r>
          </a:p>
          <a:p xmlns:a="http://schemas.openxmlformats.org/drawingml/2006/main">
            <a:pPr algn="ctr">
              <a:defRPr sz="1200" b="0">
                <a:solidFill>
                  <a:srgbClr val="000000"/>
                </a:solidFill>
                <a:latin typeface="Times New Roman"/>
                <a:ea typeface="Times New Roman"/>
                <a:cs typeface="Times New Roman"/>
              </a:defRPr>
            </a:pPr>
            <a:r>
              <a:rPr sz="1200" b="0">
                <a:solidFill>
                  <a:srgbClr val="000000"/>
                </a:solidFill>
                <a:latin typeface="Times New Roman"/>
                <a:ea typeface="Times New Roman"/>
                <a:cs typeface="Times New Roman"/>
              </a:rPr>
              <a:t>Risk 30, amount 25, horizon 20, goal 15, liquidity 10</a:t>
            </a:r>
          </a:p>
        </p:txBody>
      </p:sp>
      <p:sp>
        <p:nvSpPr>
          <p:cNvPr id="8" name="">
            <a:extLst xmlns:a="http://schemas.openxmlformats.org/drawingml/2006/main">
              <a:ext uri="{FF2B5EF4-FFF2-40B4-BE49-F238E27FC236}">
                <a16:creationId xmlns:a16="http://schemas.microsoft.com/office/drawing/2014/main" id="{48A00D82-5EEC-4438-BB46-14F5623729A8}"/>
              </a:ext>
            </a:extLst>
          </p:cNvPr>
          <p:cNvSpPr>
            <a:spLocks xmlns:a="http://schemas.openxmlformats.org/drawingml/2006/main" noGrp="1"/>
          </p:cNvSpPr>
          <p:nvPr/>
        </p:nvSpPr>
        <p:spPr>
          <a:xfrm xmlns:a="http://schemas.openxmlformats.org/drawingml/2006/main">
            <a:off x="6334125" y="3810000"/>
            <a:ext cx="2286000" cy="590550"/>
          </a:xfrm>
          <a:prstGeom xmlns:a="http://schemas.openxmlformats.org/drawingml/2006/main" prst="rect">
            <a:avLst/>
          </a:prstGeom>
          <a:solidFill xmlns:a="http://schemas.openxmlformats.org/drawingml/2006/main">
            <a:srgbClr val="FFFFFF"/>
          </a:solidFill>
          <a:ln xmlns:a="http://schemas.openxmlformats.org/drawingml/2006/main" w="14288">
            <a:solidFill>
              <a:srgbClr val="1F2E8A"/>
            </a:solid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6. Rank output</a:t>
            </a:r>
          </a:p>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Max-heap returns top options with reasons</a:t>
            </a:r>
          </a:p>
        </p:txBody>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2809875" y="2867025"/>
            <a:ext cx="619125" cy="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5715000" y="2867025"/>
            <a:ext cx="619125" cy="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5" name=""/>
          <p:cNvCxnSpPr>
            <a:stCxn xmlns:a="http://schemas.openxmlformats.org/drawingml/2006/main" id="5" idx="2"/>
            <a:endCxn xmlns:a="http://schemas.openxmlformats.org/drawingml/2006/main" id="6" idx="0"/>
          </p:cNvCxnSpPr>
          <p:nvPr/>
        </p:nvCxnSpPr>
        <p:spPr>
          <a:xfrm xmlns:a="http://schemas.openxmlformats.org/drawingml/2006/main" flipH="1">
            <a:off x="1666875" y="3162300"/>
            <a:ext cx="5810250" cy="64770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2809875" y="4105275"/>
            <a:ext cx="619125" cy="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5715000" y="4105275"/>
            <a:ext cx="619125" cy="0"/>
          </a:xfrm>
          <a:prstGeom xmlns:a="http://schemas.openxmlformats.org/drawingml/2006/main" prst="straightConnector1">
            <a:avLst/>
          </a:prstGeom>
          <a:ln xmlns:a="http://schemas.openxmlformats.org/drawingml/2006/main" w="19050">
            <a:solidFill>
              <a:srgbClr val="1F2E8A"/>
            </a:solidFill>
            <a:prstDash val="solid"/>
            <a:headEnd type="arrow" w="sm" len="sm"/>
          </a:ln>
        </p:spPr>
      </p:cxnSp>
      <p:sp>
        <p:nvSpPr>
          <p:cNvPr id="14" name="">
            <a:extLst xmlns:a="http://schemas.openxmlformats.org/drawingml/2006/main">
              <a:ext uri="{FF2B5EF4-FFF2-40B4-BE49-F238E27FC236}">
                <a16:creationId xmlns:a16="http://schemas.microsoft.com/office/drawing/2014/main" id="{B2D3BFC9-EFD7-4174-92CD-A308EE39DEEC}"/>
              </a:ext>
            </a:extLst>
          </p:cNvPr>
          <p:cNvSpPr>
            <a:spLocks xmlns:a="http://schemas.openxmlformats.org/drawingml/2006/main" noGrp="1"/>
          </p:cNvSpPr>
          <p:nvPr/>
        </p:nvSpPr>
        <p:spPr>
          <a:xfrm xmlns:a="http://schemas.openxmlformats.org/drawingml/2006/main">
            <a:off x="762000" y="5048250"/>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latin typeface="Times New Roman"/>
                <a:ea typeface="Times New Roman"/>
                <a:cs typeface="Times New Roman"/>
              </a:defRPr>
            </a:pPr>
            <a:r>
              <a:rPr sz="1425" b="1">
                <a:solidFill>
                  <a:srgbClr val="000000"/>
                </a:solidFill>
                <a:latin typeface="Times New Roman"/>
                <a:ea typeface="Times New Roman"/>
                <a:cs typeface="Times New Roman"/>
              </a:rPr>
              <a:t>Available Capacity = max(0, Surplus - Emergency Reserve - Monthly Goal Commitments)</a:t>
            </a:r>
          </a:p>
        </p:txBody>
      </p:sp>
    </p:spTree>
    <p:extLst>
      <p:ext uri="{BB962C8B-B14F-4D97-AF65-F5344CB8AC3E}">
        <p14:creationId xmlns:p14="http://schemas.microsoft.com/office/powerpoint/2010/main" val="16473087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ea53c7481b1a4c65"/>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EBCE8C-90B4-4A2F-8F9A-374B5A529682}"/>
              </a:ext>
            </a:extLst>
          </p:cNvPr>
          <p:cNvSpPr>
            <a:spLocks xmlns:a="http://schemas.openxmlformats.org/drawingml/2006/main" noGrp="1"/>
          </p:cNvSpPr>
          <p:nvPr/>
        </p:nvSpPr>
        <p:spPr>
          <a:xfrm xmlns:a="http://schemas.openxmlformats.org/drawingml/2006/main">
            <a:off x="457200" y="1581150"/>
            <a:ext cx="8239125" cy="43815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graphicFrame>
        <p:nvGraphicFramePr>
          <p:cNvPr id="6" name=""/>
          <p:cNvGraphicFramePr/>
          <p:nvPr/>
        </p:nvGraphicFramePr>
        <p:xfrm>
          <a:off xmlns:a="http://schemas.openxmlformats.org/drawingml/2006/main" x="533400" y="1685925"/>
          <a:ext xmlns:a="http://schemas.openxmlformats.org/drawingml/2006/main" cx="8077200" cy="4095750"/>
        </p:xfrm>
        <a:graphic xmlns:a="http://schemas.openxmlformats.org/drawingml/2006/main">
          <a:graphicData uri="http://schemas.openxmlformats.org/drawingml/2006/table">
            <a:tbl>
              <a:tblPr/>
              <a:tblGrid>
                <a:gridCol w="2524125"/>
                <a:gridCol w="5553075"/>
              </a:tblGrid>
              <a:tr h="341313">
                <a:tc gridSpan="2">
                  <a:txBody>
                    <a:bodyPr/>
                    <a:lstStyle/>
                    <a:p>
                      <a:pPr algn="ctr"/>
                      <a:r>
                        <a:rPr sz="1650" b="1">
                          <a:solidFill>
                            <a:srgbClr val="000000"/>
                          </a:solidFill>
                          <a:latin typeface="Times New Roman"/>
                          <a:ea typeface="Times New Roman"/>
                          <a:cs typeface="Times New Roman"/>
                        </a:rPr>
                        <a:t>Hardware Requirements</a:t>
                      </a:r>
                    </a:p>
                  </a:txBody>
                  <a:tcPr marL="91440" marR="91440" marT="45720" marB="45720"/>
                </a:tc>
                <a:tc hMerge="1">
                  <a:txBody>
                    <a:bodyPr/>
                    <a:lstStyle/>
                    <a:p>
                      <a:r>
                        <a:t/>
                      </a:r>
                    </a:p>
                  </a:txBody>
                  <a:tcPr marL="91440" marR="91440" marT="45720" marB="45720"/>
                </a:tc>
              </a:tr>
              <a:tr h="341313">
                <a:tc>
                  <a:txBody>
                    <a:bodyPr/>
                    <a:lstStyle/>
                    <a:p>
                      <a:r>
                        <a:rPr sz="1275" b="1">
                          <a:solidFill>
                            <a:srgbClr val="000000"/>
                          </a:solidFill>
                          <a:latin typeface="Times New Roman"/>
                          <a:ea typeface="Times New Roman"/>
                          <a:cs typeface="Times New Roman"/>
                        </a:rPr>
                        <a:t>Component</a:t>
                      </a:r>
                    </a:p>
                  </a:txBody>
                  <a:tcPr marL="91440" marR="91440" marT="45720" marB="45720"/>
                </a:tc>
                <a:tc>
                  <a:txBody>
                    <a:bodyPr/>
                    <a:lstStyle/>
                    <a:p>
                      <a:r>
                        <a:rPr sz="1275" b="1">
                          <a:solidFill>
                            <a:srgbClr val="000000"/>
                          </a:solidFill>
                          <a:latin typeface="Times New Roman"/>
                          <a:ea typeface="Times New Roman"/>
                          <a:cs typeface="Times New Roman"/>
                        </a:rPr>
                        <a:t>Minimum requirement</a:t>
                      </a:r>
                    </a:p>
                  </a:txBody>
                  <a:tcPr marL="91440" marR="91440" marT="45720" marB="45720"/>
                </a:tc>
              </a:tr>
              <a:tr h="341313">
                <a:tc>
                  <a:txBody>
                    <a:bodyPr/>
                    <a:lstStyle/>
                    <a:p>
                      <a:r>
                        <a:t>Processor</a:t>
                      </a:r>
                    </a:p>
                  </a:txBody>
                  <a:tcPr marL="91440" marR="91440" marT="45720" marB="45720"/>
                </a:tc>
                <a:tc>
                  <a:txBody>
                    <a:bodyPr/>
                    <a:lstStyle/>
                    <a:p>
                      <a:r>
                        <a:t>Dual-core 2 GHz or higher</a:t>
                      </a:r>
                    </a:p>
                  </a:txBody>
                  <a:tcPr marL="91440" marR="91440" marT="45720" marB="45720"/>
                </a:tc>
              </a:tr>
              <a:tr h="341313">
                <a:tc>
                  <a:txBody>
                    <a:bodyPr/>
                    <a:lstStyle/>
                    <a:p>
                      <a:r>
                        <a:t>RAM</a:t>
                      </a:r>
                    </a:p>
                  </a:txBody>
                  <a:tcPr marL="91440" marR="91440" marT="45720" marB="45720"/>
                </a:tc>
                <a:tc>
                  <a:txBody>
                    <a:bodyPr/>
                    <a:lstStyle/>
                    <a:p>
                      <a:r>
                        <a:t>4 GB</a:t>
                      </a:r>
                    </a:p>
                  </a:txBody>
                  <a:tcPr marL="91440" marR="91440" marT="45720" marB="45720"/>
                </a:tc>
              </a:tr>
              <a:tr h="341313">
                <a:tc>
                  <a:txBody>
                    <a:bodyPr/>
                    <a:lstStyle/>
                    <a:p>
                      <a:r>
                        <a:t>Storage</a:t>
                      </a:r>
                    </a:p>
                  </a:txBody>
                  <a:tcPr marL="91440" marR="91440" marT="45720" marB="45720"/>
                </a:tc>
                <a:tc>
                  <a:txBody>
                    <a:bodyPr/>
                    <a:lstStyle/>
                    <a:p>
                      <a:r>
                        <a:t>500 MB free disk space</a:t>
                      </a:r>
                    </a:p>
                  </a:txBody>
                  <a:tcPr marL="91440" marR="91440" marT="45720" marB="45720"/>
                </a:tc>
              </a:tr>
              <a:tr h="341313">
                <a:tc>
                  <a:txBody>
                    <a:bodyPr/>
                    <a:lstStyle/>
                    <a:p>
                      <a:r>
                        <a:t>Network</a:t>
                      </a:r>
                    </a:p>
                  </a:txBody>
                  <a:tcPr marL="91440" marR="91440" marT="45720" marB="45720"/>
                </a:tc>
                <a:tc>
                  <a:txBody>
                    <a:bodyPr/>
                    <a:lstStyle/>
                    <a:p>
                      <a:r>
                        <a:t>Internet for live APIs; local cache supports an offline demo</a:t>
                      </a:r>
                    </a:p>
                  </a:txBody>
                  <a:tcPr marL="91440" marR="91440" marT="45720" marB="45720"/>
                </a:tc>
              </a:tr>
              <a:tr h="341313">
                <a:tc gridSpan="2">
                  <a:txBody>
                    <a:bodyPr/>
                    <a:lstStyle/>
                    <a:p>
                      <a:pPr algn="ctr"/>
                      <a:r>
                        <a:rPr sz="1650" b="1">
                          <a:solidFill>
                            <a:srgbClr val="000000"/>
                          </a:solidFill>
                          <a:latin typeface="Times New Roman"/>
                          <a:ea typeface="Times New Roman"/>
                          <a:cs typeface="Times New Roman"/>
                        </a:rPr>
                        <a:t>Software Requirements</a:t>
                      </a:r>
                    </a:p>
                  </a:txBody>
                  <a:tcPr marL="91440" marR="91440" marT="45720" marB="45720"/>
                </a:tc>
                <a:tc hMerge="1">
                  <a:txBody>
                    <a:bodyPr/>
                    <a:lstStyle/>
                    <a:p>
                      <a:r>
                        <a:t/>
                      </a:r>
                    </a:p>
                  </a:txBody>
                  <a:tcPr marL="91440" marR="91440" marT="45720" marB="45720"/>
                </a:tc>
              </a:tr>
              <a:tr h="341313">
                <a:tc>
                  <a:txBody>
                    <a:bodyPr/>
                    <a:lstStyle/>
                    <a:p>
                      <a:r>
                        <a:rPr sz="1275" b="1">
                          <a:solidFill>
                            <a:srgbClr val="000000"/>
                          </a:solidFill>
                          <a:latin typeface="Times New Roman"/>
                          <a:ea typeface="Times New Roman"/>
                          <a:cs typeface="Times New Roman"/>
                        </a:rPr>
                        <a:t>Component</a:t>
                      </a:r>
                    </a:p>
                  </a:txBody>
                  <a:tcPr marL="91440" marR="91440" marT="45720" marB="45720"/>
                </a:tc>
                <a:tc>
                  <a:txBody>
                    <a:bodyPr/>
                    <a:lstStyle/>
                    <a:p>
                      <a:r>
                        <a:rPr sz="1275" b="1">
                          <a:solidFill>
                            <a:srgbClr val="000000"/>
                          </a:solidFill>
                          <a:latin typeface="Times New Roman"/>
                          <a:ea typeface="Times New Roman"/>
                          <a:cs typeface="Times New Roman"/>
                        </a:rPr>
                        <a:t>Requirement</a:t>
                      </a:r>
                    </a:p>
                  </a:txBody>
                  <a:tcPr marL="91440" marR="91440" marT="45720" marB="45720"/>
                </a:tc>
              </a:tr>
              <a:tr h="341313">
                <a:tc>
                  <a:txBody>
                    <a:bodyPr/>
                    <a:lstStyle/>
                    <a:p>
                      <a:r>
                        <a:t>Operating system</a:t>
                      </a:r>
                    </a:p>
                  </a:txBody>
                  <a:tcPr marL="91440" marR="91440" marT="45720" marB="45720"/>
                </a:tc>
                <a:tc>
                  <a:txBody>
                    <a:bodyPr/>
                    <a:lstStyle/>
                    <a:p>
                      <a:r>
                        <a:t>Windows, Linux, or macOS</a:t>
                      </a:r>
                    </a:p>
                  </a:txBody>
                  <a:tcPr marL="91440" marR="91440" marT="45720" marB="45720"/>
                </a:tc>
              </a:tr>
              <a:tr h="341313">
                <a:tc>
                  <a:txBody>
                    <a:bodyPr/>
                    <a:lstStyle/>
                    <a:p>
                      <a:r>
                        <a:t>Runtime</a:t>
                      </a:r>
                    </a:p>
                  </a:txBody>
                  <a:tcPr marL="91440" marR="91440" marT="45720" marB="45720"/>
                </a:tc>
                <a:tc>
                  <a:txBody>
                    <a:bodyPr/>
                    <a:lstStyle/>
                    <a:p>
                      <a:r>
                        <a:t>Python 3.10 or higher</a:t>
                      </a:r>
                    </a:p>
                  </a:txBody>
                  <a:tcPr marL="91440" marR="91440" marT="45720" marB="45720"/>
                </a:tc>
              </a:tr>
              <a:tr h="341313">
                <a:tc>
                  <a:txBody>
                    <a:bodyPr/>
                    <a:lstStyle/>
                    <a:p>
                      <a:r>
                        <a:t>Application stack</a:t>
                      </a:r>
                    </a:p>
                  </a:txBody>
                  <a:tcPr marL="91440" marR="91440" marT="45720" marB="45720"/>
                </a:tc>
                <a:tc>
                  <a:txBody>
                    <a:bodyPr/>
                    <a:lstStyle/>
                    <a:p>
                      <a:r>
                        <a:t>Flask 3.x, SQLite 3, HTML5, CSS3, JavaScript</a:t>
                      </a:r>
                    </a:p>
                  </a:txBody>
                  <a:tcPr marL="91440" marR="91440" marT="45720" marB="45720"/>
                </a:tc>
              </a:tr>
              <a:tr h="341313">
                <a:tc>
                  <a:txBody>
                    <a:bodyPr/>
                    <a:lstStyle/>
                    <a:p>
                      <a:r>
                        <a:t>Libraries</a:t>
                      </a:r>
                    </a:p>
                  </a:txBody>
                  <a:tcPr marL="91440" marR="91440" marT="45720" marB="45720"/>
                </a:tc>
                <a:tc>
                  <a:txBody>
                    <a:bodyPr/>
                    <a:lstStyle/>
                    <a:p>
                      <a:r>
                        <a:t>requests, python-dotenv, Chart.js via CDN</a:t>
                      </a:r>
                    </a:p>
                  </a:txBody>
                  <a:tcPr marL="91440" marR="91440" marT="45720" marB="45720"/>
                </a:tc>
              </a:tr>
            </a:tbl>
          </a:graphicData>
        </a:graphic>
      </p:graphicFrame>
    </p:spTree>
    <p:extLst>
      <p:ext uri="{BB962C8B-B14F-4D97-AF65-F5344CB8AC3E}">
        <p14:creationId xmlns:p14="http://schemas.microsoft.com/office/powerpoint/2010/main" val="55069249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79a9a4ea0644951"/>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C6EF5C6-89ED-4347-89B2-34D4BF407CA9}"/>
              </a:ext>
            </a:extLst>
          </p:cNvPr>
          <p:cNvSpPr>
            <a:spLocks xmlns:a="http://schemas.openxmlformats.org/drawingml/2006/main" noGrp="1"/>
          </p:cNvSpPr>
          <p:nvPr/>
        </p:nvSpPr>
        <p:spPr>
          <a:xfrm xmlns:a="http://schemas.openxmlformats.org/drawingml/2006/main">
            <a:off x="457200" y="2428875"/>
            <a:ext cx="8239125" cy="342900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6EAF7177-B1CC-44A9-9242-972DA0A4F5AE}"/>
              </a:ext>
            </a:extLst>
          </p:cNvPr>
          <p:cNvSpPr>
            <a:spLocks xmlns:a="http://schemas.openxmlformats.org/drawingml/2006/main" noGrp="1"/>
          </p:cNvSpPr>
          <p:nvPr/>
        </p:nvSpPr>
        <p:spPr>
          <a:xfrm xmlns:a="http://schemas.openxmlformats.org/drawingml/2006/main">
            <a:off x="685800" y="2571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Automated acceptance test scenario</a:t>
            </a:r>
          </a:p>
        </p:txBody>
      </p:sp>
      <p:graphicFrame>
        <p:nvGraphicFramePr>
          <p:cNvPr id="9" name=""/>
          <p:cNvGraphicFramePr/>
          <p:nvPr/>
        </p:nvGraphicFramePr>
        <p:xfrm>
          <a:off xmlns:a="http://schemas.openxmlformats.org/drawingml/2006/main" x="619125" y="3000375"/>
          <a:ext xmlns:a="http://schemas.openxmlformats.org/drawingml/2006/main" cx="7905750" cy="2190750"/>
        </p:xfrm>
        <a:graphic xmlns:a="http://schemas.openxmlformats.org/drawingml/2006/main">
          <a:graphicData uri="http://schemas.openxmlformats.org/drawingml/2006/table">
            <a:tbl>
              <a:tblPr/>
              <a:tblGrid>
                <a:gridCol w="3429000"/>
                <a:gridCol w="4476750"/>
              </a:tblGrid>
              <a:tr h="428625">
                <a:tc>
                  <a:txBody>
                    <a:bodyPr/>
                    <a:lstStyle/>
                    <a:p>
                      <a:r>
                        <a:t>Test condition</a:t>
                      </a:r>
                    </a:p>
                  </a:txBody>
                  <a:tcPr marL="91440" marR="91440" marT="45720" marB="45720"/>
                </a:tc>
                <a:tc>
                  <a:txBody>
                    <a:bodyPr/>
                    <a:lstStyle/>
                    <a:p>
                      <a:r>
                        <a:t>Assertion in the project test suite</a:t>
                      </a:r>
                    </a:p>
                  </a:txBody>
                  <a:tcPr marL="91440" marR="91440" marT="45720" marB="45720"/>
                </a:tc>
              </a:tr>
              <a:tr h="0">
                <a:tc>
                  <a:txBody>
                    <a:bodyPr/>
                    <a:lstStyle/>
                    <a:p>
                      <a:r>
                        <a:t>Income ₹50,000; expenses ₹30,000</a:t>
                      </a:r>
                    </a:p>
                  </a:txBody>
                  <a:tcPr marL="91440" marR="91440" marT="45720" marB="45720"/>
                </a:tc>
                <a:tc>
                  <a:txBody>
                    <a:bodyPr/>
                    <a:lstStyle/>
                    <a:p>
                      <a:r>
                        <a:t>₹20,000 surplus and a 40% savings rate</a:t>
                      </a:r>
                    </a:p>
                  </a:txBody>
                  <a:tcPr marL="91440" marR="91440" marT="45720" marB="45720"/>
                </a:tc>
              </a:tr>
              <a:tr h="0">
                <a:tc>
                  <a:txBody>
                    <a:bodyPr/>
                    <a:lstStyle/>
                    <a:p>
                      <a:r>
                        <a:t>Goal ₹5,00,000; current amount ₹50,000</a:t>
                      </a:r>
                    </a:p>
                  </a:txBody>
                  <a:tcPr marL="91440" marR="91440" marT="45720" marB="45720"/>
                </a:tc>
                <a:tc>
                  <a:txBody>
                    <a:bodyPr/>
                    <a:lstStyle/>
                    <a:p>
                      <a:r>
                        <a:t>₹4,50,000 remaining amount and a monthly contribution calculation</a:t>
                      </a:r>
                    </a:p>
                  </a:txBody>
                  <a:tcPr marL="91440" marR="91440" marT="45720" marB="45720"/>
                </a:tc>
              </a:tr>
              <a:tr h="0">
                <a:tc>
                  <a:txBody>
                    <a:bodyPr/>
                    <a:lstStyle/>
                    <a:p>
                      <a:r>
                        <a:t>MEDIUM risk; LONG horizon</a:t>
                      </a:r>
                    </a:p>
                  </a:txBody>
                  <a:tcPr marL="91440" marR="91440" marT="45720" marB="45720"/>
                </a:tc>
                <a:tc>
                  <a:txBody>
                    <a:bodyPr/>
                    <a:lstStyle/>
                    <a:p>
                      <a:r>
                        <a:t>At least three recommendations ranked in descending score order</a:t>
                      </a:r>
                    </a:p>
                  </a:txBody>
                  <a:tcPr marL="91440" marR="91440" marT="45720" marB="45720"/>
                </a:tc>
              </a:tr>
              <a:tr h="0">
                <a:tc>
                  <a:txBody>
                    <a:bodyPr/>
                    <a:lstStyle/>
                    <a:p>
                      <a:r>
                        <a:t>API missing, unavailable, or rate-limited</a:t>
                      </a:r>
                    </a:p>
                  </a:txBody>
                  <a:tcPr marL="91440" marR="91440" marT="45720" marB="45720"/>
                </a:tc>
                <a:tc>
                  <a:txBody>
                    <a:bodyPr/>
                    <a:lstStyle/>
                    <a:p>
                      <a:r>
                        <a:t>Cached SQLite data remains available without an application crash</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C0EFACED-7963-4AE3-A18D-D4C7EC6A86F9}"/>
              </a:ext>
            </a:extLst>
          </p:cNvPr>
          <p:cNvSpPr>
            <a:spLocks xmlns:a="http://schemas.openxmlformats.org/drawingml/2006/main" noGrp="1"/>
          </p:cNvSpPr>
          <p:nvPr/>
        </p:nvSpPr>
        <p:spPr>
          <a:xfrm xmlns:a="http://schemas.openxmlformats.org/drawingml/2006/main">
            <a:off x="762000" y="5381625"/>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The test suite also verifies SQLite persistence, route rendering, algorithm routines, and recommendation explainability.</a:t>
            </a:r>
          </a:p>
        </p:txBody>
      </p:sp>
    </p:spTree>
    <p:extLst>
      <p:ext uri="{BB962C8B-B14F-4D97-AF65-F5344CB8AC3E}">
        <p14:creationId xmlns:p14="http://schemas.microsoft.com/office/powerpoint/2010/main" val="2738894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a7155ad41634818"/>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838A09-1FA3-46D6-B277-8EDF6252BDE6}"/>
              </a:ext>
            </a:extLst>
          </p:cNvPr>
          <p:cNvSpPr>
            <a:spLocks xmlns:a="http://schemas.openxmlformats.org/drawingml/2006/main" noGrp="1"/>
          </p:cNvSpPr>
          <p:nvPr/>
        </p:nvSpPr>
        <p:spPr>
          <a:xfrm xmlns:a="http://schemas.openxmlformats.org/drawingml/2006/main">
            <a:off x="476250" y="1809750"/>
            <a:ext cx="8191500" cy="404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18E3D646-383C-472D-8560-46C3DEBD0A0B}"/>
              </a:ext>
            </a:extLst>
          </p:cNvPr>
          <p:cNvSpPr>
            <a:spLocks xmlns:a="http://schemas.openxmlformats.org/drawingml/2006/main" noGrp="1"/>
          </p:cNvSpPr>
          <p:nvPr/>
        </p:nvSpPr>
        <p:spPr>
          <a:xfrm xmlns:a="http://schemas.openxmlformats.org/drawingml/2006/main">
            <a:off x="800100" y="2095500"/>
            <a:ext cx="75247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The system turns income, expenses, budgets, and goals into a clear monthly financial picture.</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Investment capacity protects an emergency reserve and required goal contributions before matching options.</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DSA modules provide transparent searching, filtering, scoring, and priority-based ranking.</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Flask, SQLite, and cached API fallbacks create a portable and reliable academic prototype.</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Recommendations show criteria-based options and do not claim guaranteed returns or financial advice.</a:t>
            </a:r>
          </a:p>
        </p:txBody>
      </p:sp>
    </p:spTree>
    <p:extLst>
      <p:ext uri="{BB962C8B-B14F-4D97-AF65-F5344CB8AC3E}">
        <p14:creationId xmlns:p14="http://schemas.microsoft.com/office/powerpoint/2010/main" val="2008771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89fdeb32e674641"/>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AD1AE4-893C-4788-90F4-DC7C1F246027}"/>
              </a:ext>
            </a:extLst>
          </p:cNvPr>
          <p:cNvSpPr>
            <a:spLocks xmlns:a="http://schemas.openxmlformats.org/drawingml/2006/main" noGrp="1"/>
          </p:cNvSpPr>
          <p:nvPr/>
        </p:nvSpPr>
        <p:spPr>
          <a:xfrm xmlns:a="http://schemas.openxmlformats.org/drawingml/2006/main">
            <a:off x="476250" y="1809750"/>
            <a:ext cx="8191500" cy="404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A98B594F-5102-4489-B248-2349FD89454A}"/>
              </a:ext>
            </a:extLst>
          </p:cNvPr>
          <p:cNvSpPr>
            <a:spLocks xmlns:a="http://schemas.openxmlformats.org/drawingml/2006/main" noGrp="1"/>
          </p:cNvSpPr>
          <p:nvPr/>
        </p:nvSpPr>
        <p:spPr>
          <a:xfrm xmlns:a="http://schemas.openxmlformats.org/drawingml/2006/main">
            <a:off x="800100" y="2095500"/>
            <a:ext cx="75247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Import bank statements from PDF or CSV files to reduce manual data entry.</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Add Monte Carlo simulations for long-term goal and retirement forecasting.</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Introduce two-factor authentication through an email one-time password.</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Create tax summaries and annual capital-gains reports for export.</a:t>
            </a:r>
          </a:p>
          <a:p xmlns:a="http://schemas.openxmlformats.org/drawingml/2006/main">
            <a:pPr marL="228600" indent="-114300">
              <a:spcAft>
                <a:spcPts val="900"/>
              </a:spcAft>
              <a:buChar char="•"/>
              <a:defRPr sz="1650">
                <a:solidFill>
                  <a:srgbClr val="000000"/>
                </a:solidFill>
                <a:latin typeface="Times New Roman"/>
                <a:ea typeface="Times New Roman"/>
                <a:cs typeface="Times New Roman"/>
              </a:defRPr>
            </a:pPr>
            <a:r>
              <a:rPr sz="1650">
                <a:solidFill>
                  <a:srgbClr val="000000"/>
                </a:solidFill>
                <a:latin typeface="Times New Roman"/>
                <a:ea typeface="Times New Roman"/>
                <a:cs typeface="Times New Roman"/>
              </a:rPr>
              <a:t>Extend the system with multi-currency support and cloud deployment.</a:t>
            </a:r>
          </a:p>
        </p:txBody>
      </p:sp>
    </p:spTree>
    <p:extLst>
      <p:ext uri="{BB962C8B-B14F-4D97-AF65-F5344CB8AC3E}">
        <p14:creationId xmlns:p14="http://schemas.microsoft.com/office/powerpoint/2010/main" val="6418120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cc8b71f7aea4648"/>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3E32DF3-6136-4D17-9084-1872A883D577}"/>
              </a:ext>
            </a:extLst>
          </p:cNvPr>
          <p:cNvSpPr>
            <a:spLocks xmlns:a="http://schemas.openxmlformats.org/drawingml/2006/main" noGrp="1"/>
          </p:cNvSpPr>
          <p:nvPr/>
        </p:nvSpPr>
        <p:spPr>
          <a:xfrm xmlns:a="http://schemas.openxmlformats.org/drawingml/2006/main">
            <a:off x="476250" y="1809750"/>
            <a:ext cx="8191500" cy="404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EFC2E48A-9324-4DE0-94B1-9F82B1EC3605}"/>
              </a:ext>
            </a:extLst>
          </p:cNvPr>
          <p:cNvSpPr>
            <a:spLocks xmlns:a="http://schemas.openxmlformats.org/drawingml/2006/main" noGrp="1"/>
          </p:cNvSpPr>
          <p:nvPr/>
        </p:nvSpPr>
        <p:spPr>
          <a:xfrm xmlns:a="http://schemas.openxmlformats.org/drawingml/2006/main">
            <a:off x="723900" y="19526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Live demonstration flow</a:t>
            </a:r>
          </a:p>
        </p:txBody>
      </p:sp>
      <p:sp>
        <p:nvSpPr>
          <p:cNvPr id="4" name="">
            <a:extLst xmlns:a="http://schemas.openxmlformats.org/drawingml/2006/main">
              <a:ext uri="{FF2B5EF4-FFF2-40B4-BE49-F238E27FC236}">
                <a16:creationId xmlns:a16="http://schemas.microsoft.com/office/drawing/2014/main" id="{1175E76D-C7A1-4C85-B15F-BDE133DAE28E}"/>
              </a:ext>
            </a:extLst>
          </p:cNvPr>
          <p:cNvSpPr>
            <a:spLocks xmlns:a="http://schemas.openxmlformats.org/drawingml/2006/main" noGrp="1"/>
          </p:cNvSpPr>
          <p:nvPr/>
        </p:nvSpPr>
        <p:spPr>
          <a:xfrm xmlns:a="http://schemas.openxmlformats.org/drawingml/2006/main">
            <a:off x="800100" y="2428875"/>
            <a:ext cx="7524750" cy="3000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marL="228600" indent="-114300">
              <a:spcAft>
                <a:spcPts val="7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Register or log in to open the personal dashboard.</a:t>
            </a:r>
          </a:p>
          <a:p xmlns:a="http://schemas.openxmlformats.org/drawingml/2006/main">
            <a:pPr marL="228600" indent="-114300">
              <a:spcAft>
                <a:spcPts val="7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Record ₹50,000 income and ₹30,000 categorized expenses.</a:t>
            </a:r>
          </a:p>
          <a:p xmlns:a="http://schemas.openxmlformats.org/drawingml/2006/main">
            <a:pPr marL="228600" indent="-114300">
              <a:spcAft>
                <a:spcPts val="7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Set category budgets and create a financial goal.</a:t>
            </a:r>
          </a:p>
          <a:p xmlns:a="http://schemas.openxmlformats.org/drawingml/2006/main">
            <a:pPr marL="228600" indent="-114300">
              <a:spcAft>
                <a:spcPts val="7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Choose a MEDIUM risk profile and a LONG investment horizon.</a:t>
            </a:r>
          </a:p>
          <a:p xmlns:a="http://schemas.openxmlformats.org/drawingml/2006/main">
            <a:pPr marL="228600" indent="-114300">
              <a:spcAft>
                <a:spcPts val="7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Open the recommendation page to show capacity, ranked options, and reasons.</a:t>
            </a:r>
          </a:p>
          <a:p xmlns:a="http://schemas.openxmlformats.org/drawingml/2006/main">
            <a:pPr marL="228600" indent="-114300">
              <a:spcAft>
                <a:spcPts val="700"/>
              </a:spcAft>
              <a:buChar char="•"/>
              <a:defRPr sz="1575">
                <a:solidFill>
                  <a:srgbClr val="000000"/>
                </a:solidFill>
                <a:latin typeface="Times New Roman"/>
                <a:ea typeface="Times New Roman"/>
                <a:cs typeface="Times New Roman"/>
              </a:defRPr>
            </a:pPr>
            <a:r>
              <a:rPr sz="1575">
                <a:solidFill>
                  <a:srgbClr val="000000"/>
                </a:solidFill>
                <a:latin typeface="Times New Roman"/>
                <a:ea typeface="Times New Roman"/>
                <a:cs typeface="Times New Roman"/>
              </a:rPr>
              <a:t>Show stock, gold, mutual fund, news, and backend status pages.</a:t>
            </a:r>
          </a:p>
        </p:txBody>
      </p:sp>
    </p:spTree>
    <p:extLst>
      <p:ext uri="{BB962C8B-B14F-4D97-AF65-F5344CB8AC3E}">
        <p14:creationId xmlns:p14="http://schemas.microsoft.com/office/powerpoint/2010/main" val="1576928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01d4d0ca07184f69"/>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AA80722-1DEE-476E-A74B-DC0D57466FE1}"/>
              </a:ext>
            </a:extLst>
          </p:cNvPr>
          <p:cNvSpPr>
            <a:spLocks xmlns:a="http://schemas.openxmlformats.org/drawingml/2006/main" noGrp="1"/>
          </p:cNvSpPr>
          <p:nvPr/>
        </p:nvSpPr>
        <p:spPr>
          <a:xfrm xmlns:a="http://schemas.openxmlformats.org/drawingml/2006/main">
            <a:off x="476250" y="1714500"/>
            <a:ext cx="8191500" cy="404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E0B74F36-B140-4EE9-B830-AD9CFA4320BB}"/>
              </a:ext>
            </a:extLst>
          </p:cNvPr>
          <p:cNvSpPr>
            <a:spLocks xmlns:a="http://schemas.openxmlformats.org/drawingml/2006/main" noGrp="1"/>
          </p:cNvSpPr>
          <p:nvPr/>
        </p:nvSpPr>
        <p:spPr>
          <a:xfrm xmlns:a="http://schemas.openxmlformats.org/drawingml/2006/main">
            <a:off x="790575" y="2000250"/>
            <a:ext cx="752475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1. Smart Personal Finance &amp; Budget Management System, local README and source code.</a:t>
            </a:r>
          </a:p>
          <a:p xmlns:a="http://schemas.openxmlformats.org/drawingml/2006/main">
            <a:r>
              <a:t/>
            </a:r>
          </a:p>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2. Flask Documentation. https://flask.palletsprojects.com/</a:t>
            </a:r>
          </a:p>
          <a:p xmlns:a="http://schemas.openxmlformats.org/drawingml/2006/main">
            <a:r>
              <a:t/>
            </a:r>
          </a:p>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3. SQLite Documentation. https://www.sqlite.org/docs.html</a:t>
            </a:r>
          </a:p>
          <a:p xmlns:a="http://schemas.openxmlformats.org/drawingml/2006/main">
            <a:r>
              <a:t/>
            </a:r>
          </a:p>
          <a:p xmlns:a="http://schemas.openxmlformats.org/drawingml/2006/main">
            <a:pPr algn="l">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4. Alpha Vantage, GoldAPI, NewsAPI, and MFAPI.in documentation.</a:t>
            </a:r>
          </a:p>
        </p:txBody>
      </p:sp>
    </p:spTree>
    <p:extLst>
      <p:ext uri="{BB962C8B-B14F-4D97-AF65-F5344CB8AC3E}">
        <p14:creationId xmlns:p14="http://schemas.microsoft.com/office/powerpoint/2010/main" val="13063600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bd4a019cfe74250"/>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E67CA1-330E-4505-9687-C48301B646AF}"/>
              </a:ext>
            </a:extLst>
          </p:cNvPr>
          <p:cNvSpPr>
            <a:spLocks xmlns:a="http://schemas.openxmlformats.org/drawingml/2006/main" noGrp="1"/>
          </p:cNvSpPr>
          <p:nvPr/>
        </p:nvSpPr>
        <p:spPr>
          <a:xfrm xmlns:a="http://schemas.openxmlformats.org/drawingml/2006/main">
            <a:off x="476250" y="1762125"/>
            <a:ext cx="8191500" cy="40481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 name="">
            <a:extLst xmlns:a="http://schemas.openxmlformats.org/drawingml/2006/main">
              <a:ext uri="{FF2B5EF4-FFF2-40B4-BE49-F238E27FC236}">
                <a16:creationId xmlns:a16="http://schemas.microsoft.com/office/drawing/2014/main" id="{97B54976-3E31-4D82-A165-A24AF44D6C0A}"/>
              </a:ext>
            </a:extLst>
          </p:cNvPr>
          <p:cNvSpPr>
            <a:spLocks xmlns:a="http://schemas.openxmlformats.org/drawingml/2006/main" noGrp="1"/>
          </p:cNvSpPr>
          <p:nvPr/>
        </p:nvSpPr>
        <p:spPr>
          <a:xfrm xmlns:a="http://schemas.openxmlformats.org/drawingml/2006/main">
            <a:off x="914400" y="2238375"/>
            <a:ext cx="7239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We thank our project guide for direction and review throughout this work. We also acknowledge the Department of Information Technology for the academic environment that supported the design, implementation, and evaluation of this project.</a:t>
            </a:r>
          </a:p>
        </p:txBody>
      </p:sp>
    </p:spTree>
    <p:extLst>
      <p:ext uri="{BB962C8B-B14F-4D97-AF65-F5344CB8AC3E}">
        <p14:creationId xmlns:p14="http://schemas.microsoft.com/office/powerpoint/2010/main" val="56618351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3e8b4ac0f50499d"/>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extLst>
      <p:ext uri="{BB962C8B-B14F-4D97-AF65-F5344CB8AC3E}">
        <p14:creationId xmlns:p14="http://schemas.microsoft.com/office/powerpoint/2010/main" val="3280891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98444f9f4c8d483b"/>
          <a:srcRect xmlns:a="http://schemas.openxmlformats.org/drawingml/2006/main" l="0" t="0" r="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Tree>
    <p:extLst>
      <p:ext uri="{BB962C8B-B14F-4D97-AF65-F5344CB8AC3E}">
        <p14:creationId xmlns:p14="http://schemas.microsoft.com/office/powerpoint/2010/main" val="7259804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2026-09-23T14:45:40.5570000Z</dcterms:created>
  <dcterms:modified xsi:type="dcterms:W3CDTF">2026-09-23T14:45:40.5570000Z</dcterms:modified>
</coreProperties>
</file>